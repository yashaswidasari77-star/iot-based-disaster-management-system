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1" r:id="rId1"/>
  </p:sldMasterIdLst>
  <p:sldIdLst>
    <p:sldId id="256" r:id="rId2"/>
    <p:sldId id="262" r:id="rId3"/>
    <p:sldId id="257" r:id="rId4"/>
    <p:sldId id="258" r:id="rId5"/>
    <p:sldId id="273" r:id="rId6"/>
    <p:sldId id="261" r:id="rId7"/>
    <p:sldId id="263" r:id="rId8"/>
    <p:sldId id="264" r:id="rId9"/>
    <p:sldId id="274" r:id="rId10"/>
    <p:sldId id="272" r:id="rId11"/>
    <p:sldId id="269" r:id="rId12"/>
    <p:sldId id="270" r:id="rId13"/>
    <p:sldId id="266" r:id="rId14"/>
    <p:sldId id="267"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FE0A"/>
    <a:srgbClr val="9D6B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74B646-1083-4D56-A97F-A1A0DDB156F5}" v="4" dt="2026-03-26T10:15:01.827"/>
    <p1510:client id="{2D02D3DF-8BA6-46EB-BE8B-E2F6EEA95D89}" v="22" dt="2026-03-27T07:38:27.7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21" autoAdjust="0"/>
    <p:restoredTop sz="94660"/>
  </p:normalViewPr>
  <p:slideViewPr>
    <p:cSldViewPr snapToGrid="0">
      <p:cViewPr varScale="1">
        <p:scale>
          <a:sx n="88" d="100"/>
          <a:sy n="88" d="100"/>
        </p:scale>
        <p:origin x="34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aswi Dasari" userId="c60a1fbfd91d49ab" providerId="LiveId" clId="{31C69B25-48A2-4A32-86D9-9CEF5955BAE7}"/>
    <pc:docChg chg="undo custSel addSld delSld modSld">
      <pc:chgData name="Yashaswi Dasari" userId="c60a1fbfd91d49ab" providerId="LiveId" clId="{31C69B25-48A2-4A32-86D9-9CEF5955BAE7}" dt="2026-03-27T07:44:12.343" v="543" actId="20577"/>
      <pc:docMkLst>
        <pc:docMk/>
      </pc:docMkLst>
      <pc:sldChg chg="modSp mod">
        <pc:chgData name="Yashaswi Dasari" userId="c60a1fbfd91d49ab" providerId="LiveId" clId="{31C69B25-48A2-4A32-86D9-9CEF5955BAE7}" dt="2026-03-27T06:54:16.430" v="2" actId="207"/>
        <pc:sldMkLst>
          <pc:docMk/>
          <pc:sldMk cId="1770123750" sldId="256"/>
        </pc:sldMkLst>
        <pc:spChg chg="mod">
          <ac:chgData name="Yashaswi Dasari" userId="c60a1fbfd91d49ab" providerId="LiveId" clId="{31C69B25-48A2-4A32-86D9-9CEF5955BAE7}" dt="2026-03-27T06:54:10.698" v="1" actId="207"/>
          <ac:spMkLst>
            <pc:docMk/>
            <pc:sldMk cId="1770123750" sldId="256"/>
            <ac:spMk id="2" creationId="{B57FFC7C-3931-A0E7-4CBB-EE2B1AEF2B94}"/>
          </ac:spMkLst>
        </pc:spChg>
        <pc:spChg chg="mod">
          <ac:chgData name="Yashaswi Dasari" userId="c60a1fbfd91d49ab" providerId="LiveId" clId="{31C69B25-48A2-4A32-86D9-9CEF5955BAE7}" dt="2026-03-27T06:54:16.430" v="2" actId="207"/>
          <ac:spMkLst>
            <pc:docMk/>
            <pc:sldMk cId="1770123750" sldId="256"/>
            <ac:spMk id="9" creationId="{D91F9142-E695-DDEA-49E7-A8038B51EFB7}"/>
          </ac:spMkLst>
        </pc:spChg>
      </pc:sldChg>
      <pc:sldChg chg="modSp mod">
        <pc:chgData name="Yashaswi Dasari" userId="c60a1fbfd91d49ab" providerId="LiveId" clId="{31C69B25-48A2-4A32-86D9-9CEF5955BAE7}" dt="2026-03-27T07:18:10.855" v="184" actId="27636"/>
        <pc:sldMkLst>
          <pc:docMk/>
          <pc:sldMk cId="241226288" sldId="257"/>
        </pc:sldMkLst>
        <pc:spChg chg="mod">
          <ac:chgData name="Yashaswi Dasari" userId="c60a1fbfd91d49ab" providerId="LiveId" clId="{31C69B25-48A2-4A32-86D9-9CEF5955BAE7}" dt="2026-03-27T07:09:37.444" v="134" actId="1076"/>
          <ac:spMkLst>
            <pc:docMk/>
            <pc:sldMk cId="241226288" sldId="257"/>
            <ac:spMk id="2" creationId="{D42A2DF6-8319-EAD8-62FB-EC6D9A4D4C26}"/>
          </ac:spMkLst>
        </pc:spChg>
        <pc:spChg chg="mod">
          <ac:chgData name="Yashaswi Dasari" userId="c60a1fbfd91d49ab" providerId="LiveId" clId="{31C69B25-48A2-4A32-86D9-9CEF5955BAE7}" dt="2026-03-27T07:18:10.855" v="184" actId="27636"/>
          <ac:spMkLst>
            <pc:docMk/>
            <pc:sldMk cId="241226288" sldId="257"/>
            <ac:spMk id="3" creationId="{A650BC75-0514-6EF4-4BE0-17E23D6F2D8A}"/>
          </ac:spMkLst>
        </pc:spChg>
      </pc:sldChg>
      <pc:sldChg chg="modSp mod">
        <pc:chgData name="Yashaswi Dasari" userId="c60a1fbfd91d49ab" providerId="LiveId" clId="{31C69B25-48A2-4A32-86D9-9CEF5955BAE7}" dt="2026-03-27T07:37:53.056" v="522" actId="20577"/>
        <pc:sldMkLst>
          <pc:docMk/>
          <pc:sldMk cId="1030370890" sldId="258"/>
        </pc:sldMkLst>
        <pc:spChg chg="mod">
          <ac:chgData name="Yashaswi Dasari" userId="c60a1fbfd91d49ab" providerId="LiveId" clId="{31C69B25-48A2-4A32-86D9-9CEF5955BAE7}" dt="2026-03-27T06:58:28.681" v="10" actId="120"/>
          <ac:spMkLst>
            <pc:docMk/>
            <pc:sldMk cId="1030370890" sldId="258"/>
            <ac:spMk id="2" creationId="{C4CC0F73-D6C7-F693-811F-BEEB6B6AF704}"/>
          </ac:spMkLst>
        </pc:spChg>
        <pc:spChg chg="mod">
          <ac:chgData name="Yashaswi Dasari" userId="c60a1fbfd91d49ab" providerId="LiveId" clId="{31C69B25-48A2-4A32-86D9-9CEF5955BAE7}" dt="2026-03-27T07:37:53.056" v="522" actId="20577"/>
          <ac:spMkLst>
            <pc:docMk/>
            <pc:sldMk cId="1030370890" sldId="258"/>
            <ac:spMk id="6" creationId="{10FBD2FF-7BB5-273C-4667-0CE5C1228283}"/>
          </ac:spMkLst>
        </pc:spChg>
      </pc:sldChg>
      <pc:sldChg chg="modSp del mod">
        <pc:chgData name="Yashaswi Dasari" userId="c60a1fbfd91d49ab" providerId="LiveId" clId="{31C69B25-48A2-4A32-86D9-9CEF5955BAE7}" dt="2026-03-27T07:34:58.850" v="486" actId="2696"/>
        <pc:sldMkLst>
          <pc:docMk/>
          <pc:sldMk cId="1033406165" sldId="259"/>
        </pc:sldMkLst>
        <pc:graphicFrameChg chg="modGraphic">
          <ac:chgData name="Yashaswi Dasari" userId="c60a1fbfd91d49ab" providerId="LiveId" clId="{31C69B25-48A2-4A32-86D9-9CEF5955BAE7}" dt="2026-03-27T07:23:15.227" v="206" actId="14734"/>
          <ac:graphicFrameMkLst>
            <pc:docMk/>
            <pc:sldMk cId="1033406165" sldId="259"/>
            <ac:graphicFrameMk id="8" creationId="{C52AE3C5-97C8-EBAD-06BB-20EA7D59947C}"/>
          </ac:graphicFrameMkLst>
        </pc:graphicFrameChg>
        <pc:graphicFrameChg chg="modGraphic">
          <ac:chgData name="Yashaswi Dasari" userId="c60a1fbfd91d49ab" providerId="LiveId" clId="{31C69B25-48A2-4A32-86D9-9CEF5955BAE7}" dt="2026-03-27T07:25:29.624" v="219" actId="14734"/>
          <ac:graphicFrameMkLst>
            <pc:docMk/>
            <pc:sldMk cId="1033406165" sldId="259"/>
            <ac:graphicFrameMk id="9" creationId="{19E35A1F-882D-925D-81BF-440DD252C0D8}"/>
          </ac:graphicFrameMkLst>
        </pc:graphicFrameChg>
      </pc:sldChg>
      <pc:sldChg chg="modSp mod">
        <pc:chgData name="Yashaswi Dasari" userId="c60a1fbfd91d49ab" providerId="LiveId" clId="{31C69B25-48A2-4A32-86D9-9CEF5955BAE7}" dt="2026-03-27T07:00:54.585" v="19" actId="123"/>
        <pc:sldMkLst>
          <pc:docMk/>
          <pc:sldMk cId="2312029630" sldId="261"/>
        </pc:sldMkLst>
        <pc:spChg chg="mod">
          <ac:chgData name="Yashaswi Dasari" userId="c60a1fbfd91d49ab" providerId="LiveId" clId="{31C69B25-48A2-4A32-86D9-9CEF5955BAE7}" dt="2026-03-27T07:00:54.585" v="19" actId="123"/>
          <ac:spMkLst>
            <pc:docMk/>
            <pc:sldMk cId="2312029630" sldId="261"/>
            <ac:spMk id="4" creationId="{A32FB582-C26F-5E75-1590-A68A586C9B23}"/>
          </ac:spMkLst>
        </pc:spChg>
      </pc:sldChg>
      <pc:sldChg chg="modSp mod">
        <pc:chgData name="Yashaswi Dasari" userId="c60a1fbfd91d49ab" providerId="LiveId" clId="{31C69B25-48A2-4A32-86D9-9CEF5955BAE7}" dt="2026-03-27T07:01:28.349" v="24" actId="14100"/>
        <pc:sldMkLst>
          <pc:docMk/>
          <pc:sldMk cId="4014829690" sldId="263"/>
        </pc:sldMkLst>
        <pc:spChg chg="mod">
          <ac:chgData name="Yashaswi Dasari" userId="c60a1fbfd91d49ab" providerId="LiveId" clId="{31C69B25-48A2-4A32-86D9-9CEF5955BAE7}" dt="2026-03-27T07:01:28.349" v="24" actId="14100"/>
          <ac:spMkLst>
            <pc:docMk/>
            <pc:sldMk cId="4014829690" sldId="263"/>
            <ac:spMk id="9" creationId="{E596B7FF-0700-BCC8-1DF4-3108667C64C4}"/>
          </ac:spMkLst>
        </pc:spChg>
      </pc:sldChg>
      <pc:sldChg chg="modSp mod">
        <pc:chgData name="Yashaswi Dasari" userId="c60a1fbfd91d49ab" providerId="LiveId" clId="{31C69B25-48A2-4A32-86D9-9CEF5955BAE7}" dt="2026-03-27T07:38:36.359" v="535" actId="20577"/>
        <pc:sldMkLst>
          <pc:docMk/>
          <pc:sldMk cId="3923552764" sldId="264"/>
        </pc:sldMkLst>
        <pc:spChg chg="mod">
          <ac:chgData name="Yashaswi Dasari" userId="c60a1fbfd91d49ab" providerId="LiveId" clId="{31C69B25-48A2-4A32-86D9-9CEF5955BAE7}" dt="2026-03-27T07:38:36.359" v="535" actId="20577"/>
          <ac:spMkLst>
            <pc:docMk/>
            <pc:sldMk cId="3923552764" sldId="264"/>
            <ac:spMk id="2" creationId="{8BC395CA-FED8-1B45-1C66-7F8238BFA794}"/>
          </ac:spMkLst>
        </pc:spChg>
        <pc:spChg chg="mod">
          <ac:chgData name="Yashaswi Dasari" userId="c60a1fbfd91d49ab" providerId="LiveId" clId="{31C69B25-48A2-4A32-86D9-9CEF5955BAE7}" dt="2026-03-27T07:01:37.186" v="25" actId="123"/>
          <ac:spMkLst>
            <pc:docMk/>
            <pc:sldMk cId="3923552764" sldId="264"/>
            <ac:spMk id="33" creationId="{98CFE76E-22DB-66CD-5208-661D50BF3519}"/>
          </ac:spMkLst>
        </pc:spChg>
        <pc:grpChg chg="mod">
          <ac:chgData name="Yashaswi Dasari" userId="c60a1fbfd91d49ab" providerId="LiveId" clId="{31C69B25-48A2-4A32-86D9-9CEF5955BAE7}" dt="2026-03-27T07:35:40.631" v="491" actId="1076"/>
          <ac:grpSpMkLst>
            <pc:docMk/>
            <pc:sldMk cId="3923552764" sldId="264"/>
            <ac:grpSpMk id="4" creationId="{B6834912-90A2-5FFA-B442-95EBBEE8B3D1}"/>
          </ac:grpSpMkLst>
        </pc:grpChg>
      </pc:sldChg>
      <pc:sldChg chg="modSp mod">
        <pc:chgData name="Yashaswi Dasari" userId="c60a1fbfd91d49ab" providerId="LiveId" clId="{31C69B25-48A2-4A32-86D9-9CEF5955BAE7}" dt="2026-03-27T07:02:19.611" v="32" actId="20577"/>
        <pc:sldMkLst>
          <pc:docMk/>
          <pc:sldMk cId="311594637" sldId="265"/>
        </pc:sldMkLst>
        <pc:spChg chg="mod">
          <ac:chgData name="Yashaswi Dasari" userId="c60a1fbfd91d49ab" providerId="LiveId" clId="{31C69B25-48A2-4A32-86D9-9CEF5955BAE7}" dt="2026-03-27T07:02:19.611" v="32" actId="20577"/>
          <ac:spMkLst>
            <pc:docMk/>
            <pc:sldMk cId="311594637" sldId="265"/>
            <ac:spMk id="2" creationId="{37CD48B8-C0F2-A96E-63F7-906E487FB85F}"/>
          </ac:spMkLst>
        </pc:spChg>
      </pc:sldChg>
      <pc:sldChg chg="modSp mod">
        <pc:chgData name="Yashaswi Dasari" userId="c60a1fbfd91d49ab" providerId="LiveId" clId="{31C69B25-48A2-4A32-86D9-9CEF5955BAE7}" dt="2026-03-27T07:02:04.301" v="30" actId="123"/>
        <pc:sldMkLst>
          <pc:docMk/>
          <pc:sldMk cId="966246182" sldId="266"/>
        </pc:sldMkLst>
        <pc:spChg chg="mod">
          <ac:chgData name="Yashaswi Dasari" userId="c60a1fbfd91d49ab" providerId="LiveId" clId="{31C69B25-48A2-4A32-86D9-9CEF5955BAE7}" dt="2026-03-27T07:02:04.301" v="30" actId="123"/>
          <ac:spMkLst>
            <pc:docMk/>
            <pc:sldMk cId="966246182" sldId="266"/>
            <ac:spMk id="3" creationId="{CB2BE448-82FD-CE32-EE13-BC83D803CD50}"/>
          </ac:spMkLst>
        </pc:spChg>
      </pc:sldChg>
      <pc:sldChg chg="modSp mod">
        <pc:chgData name="Yashaswi Dasari" userId="c60a1fbfd91d49ab" providerId="LiveId" clId="{31C69B25-48A2-4A32-86D9-9CEF5955BAE7}" dt="2026-03-27T07:02:12.486" v="31" actId="123"/>
        <pc:sldMkLst>
          <pc:docMk/>
          <pc:sldMk cId="3922380346" sldId="267"/>
        </pc:sldMkLst>
        <pc:spChg chg="mod">
          <ac:chgData name="Yashaswi Dasari" userId="c60a1fbfd91d49ab" providerId="LiveId" clId="{31C69B25-48A2-4A32-86D9-9CEF5955BAE7}" dt="2026-03-27T07:02:12.486" v="31" actId="123"/>
          <ac:spMkLst>
            <pc:docMk/>
            <pc:sldMk cId="3922380346" sldId="267"/>
            <ac:spMk id="4" creationId="{4A798AF3-049F-E522-792B-5CAC46E5CB8B}"/>
          </ac:spMkLst>
        </pc:spChg>
      </pc:sldChg>
      <pc:sldChg chg="modSp mod">
        <pc:chgData name="Yashaswi Dasari" userId="c60a1fbfd91d49ab" providerId="LiveId" clId="{31C69B25-48A2-4A32-86D9-9CEF5955BAE7}" dt="2026-03-27T07:01:59.849" v="29" actId="1076"/>
        <pc:sldMkLst>
          <pc:docMk/>
          <pc:sldMk cId="142417917" sldId="269"/>
        </pc:sldMkLst>
        <pc:spChg chg="mod">
          <ac:chgData name="Yashaswi Dasari" userId="c60a1fbfd91d49ab" providerId="LiveId" clId="{31C69B25-48A2-4A32-86D9-9CEF5955BAE7}" dt="2026-03-27T07:01:59.849" v="29" actId="1076"/>
          <ac:spMkLst>
            <pc:docMk/>
            <pc:sldMk cId="142417917" sldId="269"/>
            <ac:spMk id="4" creationId="{276A1CEB-A3D4-F917-0158-CADC001C7A59}"/>
          </ac:spMkLst>
        </pc:spChg>
      </pc:sldChg>
      <pc:sldChg chg="modSp mod">
        <pc:chgData name="Yashaswi Dasari" userId="c60a1fbfd91d49ab" providerId="LiveId" clId="{31C69B25-48A2-4A32-86D9-9CEF5955BAE7}" dt="2026-03-27T07:01:51.005" v="27" actId="123"/>
        <pc:sldMkLst>
          <pc:docMk/>
          <pc:sldMk cId="3165997076" sldId="272"/>
        </pc:sldMkLst>
        <pc:spChg chg="mod">
          <ac:chgData name="Yashaswi Dasari" userId="c60a1fbfd91d49ab" providerId="LiveId" clId="{31C69B25-48A2-4A32-86D9-9CEF5955BAE7}" dt="2026-03-27T07:01:51.005" v="27" actId="123"/>
          <ac:spMkLst>
            <pc:docMk/>
            <pc:sldMk cId="3165997076" sldId="272"/>
            <ac:spMk id="3" creationId="{CEF4E10B-DB1E-27FF-E28D-7E56CC082425}"/>
          </ac:spMkLst>
        </pc:spChg>
      </pc:sldChg>
      <pc:sldChg chg="addSp delSp modSp new mod">
        <pc:chgData name="Yashaswi Dasari" userId="c60a1fbfd91d49ab" providerId="LiveId" clId="{31C69B25-48A2-4A32-86D9-9CEF5955BAE7}" dt="2026-03-27T07:44:12.343" v="543" actId="20577"/>
        <pc:sldMkLst>
          <pc:docMk/>
          <pc:sldMk cId="514312566" sldId="273"/>
        </pc:sldMkLst>
        <pc:spChg chg="mod">
          <ac:chgData name="Yashaswi Dasari" userId="c60a1fbfd91d49ab" providerId="LiveId" clId="{31C69B25-48A2-4A32-86D9-9CEF5955BAE7}" dt="2026-03-27T07:35:11.964" v="490" actId="1076"/>
          <ac:spMkLst>
            <pc:docMk/>
            <pc:sldMk cId="514312566" sldId="273"/>
            <ac:spMk id="2" creationId="{0D17CA73-F7B9-ABD4-4A4D-7C6965CB7C03}"/>
          </ac:spMkLst>
        </pc:spChg>
        <pc:spChg chg="del">
          <ac:chgData name="Yashaswi Dasari" userId="c60a1fbfd91d49ab" providerId="LiveId" clId="{31C69B25-48A2-4A32-86D9-9CEF5955BAE7}" dt="2026-03-27T07:21:40.531" v="186" actId="3680"/>
          <ac:spMkLst>
            <pc:docMk/>
            <pc:sldMk cId="514312566" sldId="273"/>
            <ac:spMk id="3" creationId="{22108C24-655C-1B66-3445-3D3ED8EC1C6F}"/>
          </ac:spMkLst>
        </pc:spChg>
        <pc:spChg chg="add del mod">
          <ac:chgData name="Yashaswi Dasari" userId="c60a1fbfd91d49ab" providerId="LiveId" clId="{31C69B25-48A2-4A32-86D9-9CEF5955BAE7}" dt="2026-03-27T07:22:32.669" v="196" actId="3680"/>
          <ac:spMkLst>
            <pc:docMk/>
            <pc:sldMk cId="514312566" sldId="273"/>
            <ac:spMk id="7" creationId="{AAB9E062-A212-D73E-EA10-BC5C47988475}"/>
          </ac:spMkLst>
        </pc:spChg>
        <pc:graphicFrameChg chg="add del mod ord modGraphic">
          <ac:chgData name="Yashaswi Dasari" userId="c60a1fbfd91d49ab" providerId="LiveId" clId="{31C69B25-48A2-4A32-86D9-9CEF5955BAE7}" dt="2026-03-27T07:22:21.946" v="195" actId="478"/>
          <ac:graphicFrameMkLst>
            <pc:docMk/>
            <pc:sldMk cId="514312566" sldId="273"/>
            <ac:graphicFrameMk id="4" creationId="{4BE8E678-335C-27F8-F79B-E1B5FE8D0C9E}"/>
          </ac:graphicFrameMkLst>
        </pc:graphicFrameChg>
        <pc:graphicFrameChg chg="add del mod">
          <ac:chgData name="Yashaswi Dasari" userId="c60a1fbfd91d49ab" providerId="LiveId" clId="{31C69B25-48A2-4A32-86D9-9CEF5955BAE7}" dt="2026-03-27T07:22:59.361" v="203" actId="478"/>
          <ac:graphicFrameMkLst>
            <pc:docMk/>
            <pc:sldMk cId="514312566" sldId="273"/>
            <ac:graphicFrameMk id="5" creationId="{EDBDB755-08E8-A917-E722-5F7AAB910AB3}"/>
          </ac:graphicFrameMkLst>
        </pc:graphicFrameChg>
        <pc:graphicFrameChg chg="add mod ord modGraphic">
          <ac:chgData name="Yashaswi Dasari" userId="c60a1fbfd91d49ab" providerId="LiveId" clId="{31C69B25-48A2-4A32-86D9-9CEF5955BAE7}" dt="2026-03-27T07:44:12.343" v="543" actId="20577"/>
          <ac:graphicFrameMkLst>
            <pc:docMk/>
            <pc:sldMk cId="514312566" sldId="273"/>
            <ac:graphicFrameMk id="8" creationId="{997203B7-D90A-1E25-EB30-A5259F5BC3BF}"/>
          </ac:graphicFrameMkLst>
        </pc:graphicFrameChg>
        <pc:graphicFrameChg chg="add mod modGraphic">
          <ac:chgData name="Yashaswi Dasari" userId="c60a1fbfd91d49ab" providerId="LiveId" clId="{31C69B25-48A2-4A32-86D9-9CEF5955BAE7}" dt="2026-03-27T07:30:36.331" v="289" actId="20577"/>
          <ac:graphicFrameMkLst>
            <pc:docMk/>
            <pc:sldMk cId="514312566" sldId="273"/>
            <ac:graphicFrameMk id="9" creationId="{C89BCC01-7BE2-662F-4AC2-21B84AD7DB0D}"/>
          </ac:graphicFrameMkLst>
        </pc:graphicFrameChg>
        <pc:graphicFrameChg chg="add mod modGraphic">
          <ac:chgData name="Yashaswi Dasari" userId="c60a1fbfd91d49ab" providerId="LiveId" clId="{31C69B25-48A2-4A32-86D9-9CEF5955BAE7}" dt="2026-03-27T07:30:29.683" v="278" actId="20577"/>
          <ac:graphicFrameMkLst>
            <pc:docMk/>
            <pc:sldMk cId="514312566" sldId="273"/>
            <ac:graphicFrameMk id="10" creationId="{33B7A1CE-A412-80FF-426B-EE66E8E0ED0D}"/>
          </ac:graphicFrameMkLst>
        </pc:graphicFrameChg>
      </pc:sldChg>
      <pc:sldChg chg="modSp new mod">
        <pc:chgData name="Yashaswi Dasari" userId="c60a1fbfd91d49ab" providerId="LiveId" clId="{31C69B25-48A2-4A32-86D9-9CEF5955BAE7}" dt="2026-03-27T07:37:30.523" v="521" actId="14100"/>
        <pc:sldMkLst>
          <pc:docMk/>
          <pc:sldMk cId="2010533913" sldId="274"/>
        </pc:sldMkLst>
        <pc:spChg chg="mod">
          <ac:chgData name="Yashaswi Dasari" userId="c60a1fbfd91d49ab" providerId="LiveId" clId="{31C69B25-48A2-4A32-86D9-9CEF5955BAE7}" dt="2026-03-27T07:36:08.626" v="513" actId="207"/>
          <ac:spMkLst>
            <pc:docMk/>
            <pc:sldMk cId="2010533913" sldId="274"/>
            <ac:spMk id="2" creationId="{B86B66C6-578E-169E-CA58-1B7224750024}"/>
          </ac:spMkLst>
        </pc:spChg>
        <pc:spChg chg="mod">
          <ac:chgData name="Yashaswi Dasari" userId="c60a1fbfd91d49ab" providerId="LiveId" clId="{31C69B25-48A2-4A32-86D9-9CEF5955BAE7}" dt="2026-03-27T07:37:30.523" v="521" actId="14100"/>
          <ac:spMkLst>
            <pc:docMk/>
            <pc:sldMk cId="2010533913" sldId="274"/>
            <ac:spMk id="3" creationId="{7065C19B-D51F-1BF0-7770-0BCE198D619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EFA6D-2FED-BDE6-B9E1-CFB5768221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B2827B-EE6E-5CA8-E7D1-0F47D183C9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B7DAA6-F601-CBE9-4CBF-68162548495E}"/>
              </a:ext>
            </a:extLst>
          </p:cNvPr>
          <p:cNvSpPr>
            <a:spLocks noGrp="1"/>
          </p:cNvSpPr>
          <p:nvPr>
            <p:ph type="dt" sz="half" idx="10"/>
          </p:nvPr>
        </p:nvSpPr>
        <p:spPr/>
        <p:txBody>
          <a:bodyPr/>
          <a:lstStyle/>
          <a:p>
            <a:fld id="{6DEC8E13-C9CD-40B0-8D04-A8F91AD72B84}" type="datetimeFigureOut">
              <a:rPr lang="en-IN" smtClean="0"/>
              <a:t>27-03-2026</a:t>
            </a:fld>
            <a:endParaRPr lang="en-IN"/>
          </a:p>
        </p:txBody>
      </p:sp>
      <p:sp>
        <p:nvSpPr>
          <p:cNvPr id="5" name="Footer Placeholder 4">
            <a:extLst>
              <a:ext uri="{FF2B5EF4-FFF2-40B4-BE49-F238E27FC236}">
                <a16:creationId xmlns:a16="http://schemas.microsoft.com/office/drawing/2014/main" id="{BBA7C294-C8CE-96AC-916B-D731F7B2FA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0CCFBB-7AEC-0A5A-20B4-296AC02BC24A}"/>
              </a:ext>
            </a:extLst>
          </p:cNvPr>
          <p:cNvSpPr>
            <a:spLocks noGrp="1"/>
          </p:cNvSpPr>
          <p:nvPr>
            <p:ph type="sldNum" sz="quarter" idx="12"/>
          </p:nvPr>
        </p:nvSpPr>
        <p:spPr/>
        <p:txBody>
          <a:bodyPr/>
          <a:lstStyle/>
          <a:p>
            <a:fld id="{C31DC963-3483-4C2E-8E87-5111B789A262}" type="slidenum">
              <a:rPr lang="en-IN" smtClean="0"/>
              <a:t>‹#›</a:t>
            </a:fld>
            <a:endParaRPr lang="en-IN"/>
          </a:p>
        </p:txBody>
      </p:sp>
    </p:spTree>
    <p:extLst>
      <p:ext uri="{BB962C8B-B14F-4D97-AF65-F5344CB8AC3E}">
        <p14:creationId xmlns:p14="http://schemas.microsoft.com/office/powerpoint/2010/main" val="4076759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871C4-9F02-4306-3E7E-3E87E15EA5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348E8C-5A82-71FF-D1B3-021B0C6FB9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D73232-BF25-3C6D-BE9C-0D53CD7D2F0E}"/>
              </a:ext>
            </a:extLst>
          </p:cNvPr>
          <p:cNvSpPr>
            <a:spLocks noGrp="1"/>
          </p:cNvSpPr>
          <p:nvPr>
            <p:ph type="dt" sz="half" idx="10"/>
          </p:nvPr>
        </p:nvSpPr>
        <p:spPr/>
        <p:txBody>
          <a:bodyPr/>
          <a:lstStyle/>
          <a:p>
            <a:fld id="{6DEC8E13-C9CD-40B0-8D04-A8F91AD72B84}" type="datetimeFigureOut">
              <a:rPr lang="en-IN" smtClean="0"/>
              <a:t>27-03-2026</a:t>
            </a:fld>
            <a:endParaRPr lang="en-IN"/>
          </a:p>
        </p:txBody>
      </p:sp>
      <p:sp>
        <p:nvSpPr>
          <p:cNvPr id="5" name="Footer Placeholder 4">
            <a:extLst>
              <a:ext uri="{FF2B5EF4-FFF2-40B4-BE49-F238E27FC236}">
                <a16:creationId xmlns:a16="http://schemas.microsoft.com/office/drawing/2014/main" id="{0BAB2E29-0D30-4FAE-1CE4-A41A636D74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5EEC3D-FC9D-4C26-4397-7DFB59874822}"/>
              </a:ext>
            </a:extLst>
          </p:cNvPr>
          <p:cNvSpPr>
            <a:spLocks noGrp="1"/>
          </p:cNvSpPr>
          <p:nvPr>
            <p:ph type="sldNum" sz="quarter" idx="12"/>
          </p:nvPr>
        </p:nvSpPr>
        <p:spPr/>
        <p:txBody>
          <a:bodyPr/>
          <a:lstStyle/>
          <a:p>
            <a:fld id="{C31DC963-3483-4C2E-8E87-5111B789A262}" type="slidenum">
              <a:rPr lang="en-IN" smtClean="0"/>
              <a:t>‹#›</a:t>
            </a:fld>
            <a:endParaRPr lang="en-IN"/>
          </a:p>
        </p:txBody>
      </p:sp>
    </p:spTree>
    <p:extLst>
      <p:ext uri="{BB962C8B-B14F-4D97-AF65-F5344CB8AC3E}">
        <p14:creationId xmlns:p14="http://schemas.microsoft.com/office/powerpoint/2010/main" val="4087294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5D052-460D-AF01-82E9-82AD408A13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8DFD94-5F9D-43CE-1F2C-71FB61E928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737717-15FA-CD52-A3F6-0C5B9D48DF00}"/>
              </a:ext>
            </a:extLst>
          </p:cNvPr>
          <p:cNvSpPr>
            <a:spLocks noGrp="1"/>
          </p:cNvSpPr>
          <p:nvPr>
            <p:ph type="dt" sz="half" idx="10"/>
          </p:nvPr>
        </p:nvSpPr>
        <p:spPr/>
        <p:txBody>
          <a:bodyPr/>
          <a:lstStyle/>
          <a:p>
            <a:fld id="{6DEC8E13-C9CD-40B0-8D04-A8F91AD72B84}" type="datetimeFigureOut">
              <a:rPr lang="en-IN" smtClean="0"/>
              <a:t>27-03-2026</a:t>
            </a:fld>
            <a:endParaRPr lang="en-IN"/>
          </a:p>
        </p:txBody>
      </p:sp>
      <p:sp>
        <p:nvSpPr>
          <p:cNvPr id="5" name="Footer Placeholder 4">
            <a:extLst>
              <a:ext uri="{FF2B5EF4-FFF2-40B4-BE49-F238E27FC236}">
                <a16:creationId xmlns:a16="http://schemas.microsoft.com/office/drawing/2014/main" id="{29D5212F-F3F5-BD2B-BF37-79563F98FF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D23A58-09D6-BA38-222F-0859F2F28302}"/>
              </a:ext>
            </a:extLst>
          </p:cNvPr>
          <p:cNvSpPr>
            <a:spLocks noGrp="1"/>
          </p:cNvSpPr>
          <p:nvPr>
            <p:ph type="sldNum" sz="quarter" idx="12"/>
          </p:nvPr>
        </p:nvSpPr>
        <p:spPr/>
        <p:txBody>
          <a:bodyPr/>
          <a:lstStyle/>
          <a:p>
            <a:fld id="{C31DC963-3483-4C2E-8E87-5111B789A262}" type="slidenum">
              <a:rPr lang="en-IN" smtClean="0"/>
              <a:t>‹#›</a:t>
            </a:fld>
            <a:endParaRPr lang="en-IN"/>
          </a:p>
        </p:txBody>
      </p:sp>
    </p:spTree>
    <p:extLst>
      <p:ext uri="{BB962C8B-B14F-4D97-AF65-F5344CB8AC3E}">
        <p14:creationId xmlns:p14="http://schemas.microsoft.com/office/powerpoint/2010/main" val="500646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A1A63-ED09-33C2-D878-94C570B215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41B04E-8C06-5901-7F12-1B8C439CFE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66FD20A-C937-A2B2-7F29-84E1025C04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B85ECA-85C9-FE06-8B88-C6C813E69741}"/>
              </a:ext>
            </a:extLst>
          </p:cNvPr>
          <p:cNvSpPr>
            <a:spLocks noGrp="1"/>
          </p:cNvSpPr>
          <p:nvPr>
            <p:ph type="dt" sz="half" idx="10"/>
          </p:nvPr>
        </p:nvSpPr>
        <p:spPr/>
        <p:txBody>
          <a:bodyPr/>
          <a:lstStyle/>
          <a:p>
            <a:fld id="{6DEC8E13-C9CD-40B0-8D04-A8F91AD72B84}" type="datetimeFigureOut">
              <a:rPr lang="en-IN" smtClean="0"/>
              <a:t>27-03-2026</a:t>
            </a:fld>
            <a:endParaRPr lang="en-IN"/>
          </a:p>
        </p:txBody>
      </p:sp>
      <p:sp>
        <p:nvSpPr>
          <p:cNvPr id="6" name="Footer Placeholder 5">
            <a:extLst>
              <a:ext uri="{FF2B5EF4-FFF2-40B4-BE49-F238E27FC236}">
                <a16:creationId xmlns:a16="http://schemas.microsoft.com/office/drawing/2014/main" id="{C714B59A-A970-40A1-2679-F0A7C5D72C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6A2C3C-BD83-CCA4-1E2F-F47D64B2143C}"/>
              </a:ext>
            </a:extLst>
          </p:cNvPr>
          <p:cNvSpPr>
            <a:spLocks noGrp="1"/>
          </p:cNvSpPr>
          <p:nvPr>
            <p:ph type="sldNum" sz="quarter" idx="12"/>
          </p:nvPr>
        </p:nvSpPr>
        <p:spPr/>
        <p:txBody>
          <a:bodyPr/>
          <a:lstStyle/>
          <a:p>
            <a:fld id="{C31DC963-3483-4C2E-8E87-5111B789A262}" type="slidenum">
              <a:rPr lang="en-IN" smtClean="0"/>
              <a:t>‹#›</a:t>
            </a:fld>
            <a:endParaRPr lang="en-IN"/>
          </a:p>
        </p:txBody>
      </p:sp>
    </p:spTree>
    <p:extLst>
      <p:ext uri="{BB962C8B-B14F-4D97-AF65-F5344CB8AC3E}">
        <p14:creationId xmlns:p14="http://schemas.microsoft.com/office/powerpoint/2010/main" val="1325287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664D8-AE21-2A2F-360C-50020C4439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757355-A4FB-9EEE-3C7D-E74A546662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E78E8C-3BF2-B8C3-FE4A-F68D604161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F72B83A-B5F4-94CD-A4BA-BC94B1EAFF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F3C55C-29A6-E299-3D8C-F999B6AF85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314FC5-C58F-DC12-FABB-FFCE523EE3C5}"/>
              </a:ext>
            </a:extLst>
          </p:cNvPr>
          <p:cNvSpPr>
            <a:spLocks noGrp="1"/>
          </p:cNvSpPr>
          <p:nvPr>
            <p:ph type="dt" sz="half" idx="10"/>
          </p:nvPr>
        </p:nvSpPr>
        <p:spPr/>
        <p:txBody>
          <a:bodyPr/>
          <a:lstStyle/>
          <a:p>
            <a:fld id="{6DEC8E13-C9CD-40B0-8D04-A8F91AD72B84}" type="datetimeFigureOut">
              <a:rPr lang="en-IN" smtClean="0"/>
              <a:t>27-03-2026</a:t>
            </a:fld>
            <a:endParaRPr lang="en-IN"/>
          </a:p>
        </p:txBody>
      </p:sp>
      <p:sp>
        <p:nvSpPr>
          <p:cNvPr id="8" name="Footer Placeholder 7">
            <a:extLst>
              <a:ext uri="{FF2B5EF4-FFF2-40B4-BE49-F238E27FC236}">
                <a16:creationId xmlns:a16="http://schemas.microsoft.com/office/drawing/2014/main" id="{EB2446B7-32D1-58EF-2BA7-B79160D1D6F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6E93AA5-1418-0491-5F39-5A97D8A204A5}"/>
              </a:ext>
            </a:extLst>
          </p:cNvPr>
          <p:cNvSpPr>
            <a:spLocks noGrp="1"/>
          </p:cNvSpPr>
          <p:nvPr>
            <p:ph type="sldNum" sz="quarter" idx="12"/>
          </p:nvPr>
        </p:nvSpPr>
        <p:spPr/>
        <p:txBody>
          <a:bodyPr/>
          <a:lstStyle/>
          <a:p>
            <a:fld id="{C31DC963-3483-4C2E-8E87-5111B789A262}" type="slidenum">
              <a:rPr lang="en-IN" smtClean="0"/>
              <a:t>‹#›</a:t>
            </a:fld>
            <a:endParaRPr lang="en-IN"/>
          </a:p>
        </p:txBody>
      </p:sp>
    </p:spTree>
    <p:extLst>
      <p:ext uri="{BB962C8B-B14F-4D97-AF65-F5344CB8AC3E}">
        <p14:creationId xmlns:p14="http://schemas.microsoft.com/office/powerpoint/2010/main" val="971533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C77B9-50D2-FE1F-E9F0-30F92E33604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2CE536-80D8-EFE3-A09C-3000BE4D79D9}"/>
              </a:ext>
            </a:extLst>
          </p:cNvPr>
          <p:cNvSpPr>
            <a:spLocks noGrp="1"/>
          </p:cNvSpPr>
          <p:nvPr>
            <p:ph type="dt" sz="half" idx="10"/>
          </p:nvPr>
        </p:nvSpPr>
        <p:spPr/>
        <p:txBody>
          <a:bodyPr/>
          <a:lstStyle/>
          <a:p>
            <a:fld id="{6DEC8E13-C9CD-40B0-8D04-A8F91AD72B84}" type="datetimeFigureOut">
              <a:rPr lang="en-IN" smtClean="0"/>
              <a:t>27-03-2026</a:t>
            </a:fld>
            <a:endParaRPr lang="en-IN"/>
          </a:p>
        </p:txBody>
      </p:sp>
      <p:sp>
        <p:nvSpPr>
          <p:cNvPr id="4" name="Footer Placeholder 3">
            <a:extLst>
              <a:ext uri="{FF2B5EF4-FFF2-40B4-BE49-F238E27FC236}">
                <a16:creationId xmlns:a16="http://schemas.microsoft.com/office/drawing/2014/main" id="{B32C558E-3ABC-8D2F-47B9-F774DE6FE6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D71D83-DDA9-FB53-F959-54D34FBC5DE5}"/>
              </a:ext>
            </a:extLst>
          </p:cNvPr>
          <p:cNvSpPr>
            <a:spLocks noGrp="1"/>
          </p:cNvSpPr>
          <p:nvPr>
            <p:ph type="sldNum" sz="quarter" idx="12"/>
          </p:nvPr>
        </p:nvSpPr>
        <p:spPr/>
        <p:txBody>
          <a:bodyPr/>
          <a:lstStyle/>
          <a:p>
            <a:fld id="{C31DC963-3483-4C2E-8E87-5111B789A262}" type="slidenum">
              <a:rPr lang="en-IN" smtClean="0"/>
              <a:t>‹#›</a:t>
            </a:fld>
            <a:endParaRPr lang="en-IN"/>
          </a:p>
        </p:txBody>
      </p:sp>
    </p:spTree>
    <p:extLst>
      <p:ext uri="{BB962C8B-B14F-4D97-AF65-F5344CB8AC3E}">
        <p14:creationId xmlns:p14="http://schemas.microsoft.com/office/powerpoint/2010/main" val="59411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DA43C5-CC84-DA0B-CD5B-F5A1DB81FB4B}"/>
              </a:ext>
            </a:extLst>
          </p:cNvPr>
          <p:cNvSpPr>
            <a:spLocks noGrp="1"/>
          </p:cNvSpPr>
          <p:nvPr>
            <p:ph type="dt" sz="half" idx="10"/>
          </p:nvPr>
        </p:nvSpPr>
        <p:spPr/>
        <p:txBody>
          <a:bodyPr/>
          <a:lstStyle/>
          <a:p>
            <a:fld id="{6DEC8E13-C9CD-40B0-8D04-A8F91AD72B84}" type="datetimeFigureOut">
              <a:rPr lang="en-IN" smtClean="0"/>
              <a:t>27-03-2026</a:t>
            </a:fld>
            <a:endParaRPr lang="en-IN"/>
          </a:p>
        </p:txBody>
      </p:sp>
      <p:sp>
        <p:nvSpPr>
          <p:cNvPr id="3" name="Footer Placeholder 2">
            <a:extLst>
              <a:ext uri="{FF2B5EF4-FFF2-40B4-BE49-F238E27FC236}">
                <a16:creationId xmlns:a16="http://schemas.microsoft.com/office/drawing/2014/main" id="{8A543DE1-E597-9AAE-1089-0072B30F6C0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A0603F1-611E-869B-3AE5-0F3966B050CB}"/>
              </a:ext>
            </a:extLst>
          </p:cNvPr>
          <p:cNvSpPr>
            <a:spLocks noGrp="1"/>
          </p:cNvSpPr>
          <p:nvPr>
            <p:ph type="sldNum" sz="quarter" idx="12"/>
          </p:nvPr>
        </p:nvSpPr>
        <p:spPr/>
        <p:txBody>
          <a:bodyPr/>
          <a:lstStyle/>
          <a:p>
            <a:fld id="{C31DC963-3483-4C2E-8E87-5111B789A262}" type="slidenum">
              <a:rPr lang="en-IN" smtClean="0"/>
              <a:t>‹#›</a:t>
            </a:fld>
            <a:endParaRPr lang="en-IN"/>
          </a:p>
        </p:txBody>
      </p:sp>
    </p:spTree>
    <p:extLst>
      <p:ext uri="{BB962C8B-B14F-4D97-AF65-F5344CB8AC3E}">
        <p14:creationId xmlns:p14="http://schemas.microsoft.com/office/powerpoint/2010/main" val="3855200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42362-9809-390D-4EB5-E6D8A2648B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549AC8-C8A6-9609-33E5-81ED14EFA1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59C31B2-50D6-4EA9-36A7-BBCD9A13CC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6118EE-5A28-BA83-099F-4E6EB1C52454}"/>
              </a:ext>
            </a:extLst>
          </p:cNvPr>
          <p:cNvSpPr>
            <a:spLocks noGrp="1"/>
          </p:cNvSpPr>
          <p:nvPr>
            <p:ph type="dt" sz="half" idx="10"/>
          </p:nvPr>
        </p:nvSpPr>
        <p:spPr/>
        <p:txBody>
          <a:bodyPr/>
          <a:lstStyle/>
          <a:p>
            <a:fld id="{6DEC8E13-C9CD-40B0-8D04-A8F91AD72B84}" type="datetimeFigureOut">
              <a:rPr lang="en-IN" smtClean="0"/>
              <a:t>27-03-2026</a:t>
            </a:fld>
            <a:endParaRPr lang="en-IN"/>
          </a:p>
        </p:txBody>
      </p:sp>
      <p:sp>
        <p:nvSpPr>
          <p:cNvPr id="6" name="Footer Placeholder 5">
            <a:extLst>
              <a:ext uri="{FF2B5EF4-FFF2-40B4-BE49-F238E27FC236}">
                <a16:creationId xmlns:a16="http://schemas.microsoft.com/office/drawing/2014/main" id="{A64A28A3-C08E-C1FD-213F-E01727B83B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946EE0-3F1A-452C-6786-210DB7C3ED45}"/>
              </a:ext>
            </a:extLst>
          </p:cNvPr>
          <p:cNvSpPr>
            <a:spLocks noGrp="1"/>
          </p:cNvSpPr>
          <p:nvPr>
            <p:ph type="sldNum" sz="quarter" idx="12"/>
          </p:nvPr>
        </p:nvSpPr>
        <p:spPr/>
        <p:txBody>
          <a:bodyPr/>
          <a:lstStyle/>
          <a:p>
            <a:fld id="{C31DC963-3483-4C2E-8E87-5111B789A262}" type="slidenum">
              <a:rPr lang="en-IN" smtClean="0"/>
              <a:t>‹#›</a:t>
            </a:fld>
            <a:endParaRPr lang="en-IN"/>
          </a:p>
        </p:txBody>
      </p:sp>
    </p:spTree>
    <p:extLst>
      <p:ext uri="{BB962C8B-B14F-4D97-AF65-F5344CB8AC3E}">
        <p14:creationId xmlns:p14="http://schemas.microsoft.com/office/powerpoint/2010/main" val="4159890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19B55-BBDF-6085-FED8-D0EE4502B4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9D2FB0-280C-0F56-0C19-A74F9F9F94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7E86261-ED1F-864A-7B01-EB1FF6CB30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A0D454-DF79-1143-F3EA-26F47399893E}"/>
              </a:ext>
            </a:extLst>
          </p:cNvPr>
          <p:cNvSpPr>
            <a:spLocks noGrp="1"/>
          </p:cNvSpPr>
          <p:nvPr>
            <p:ph type="dt" sz="half" idx="10"/>
          </p:nvPr>
        </p:nvSpPr>
        <p:spPr/>
        <p:txBody>
          <a:bodyPr/>
          <a:lstStyle/>
          <a:p>
            <a:fld id="{6DEC8E13-C9CD-40B0-8D04-A8F91AD72B84}" type="datetimeFigureOut">
              <a:rPr lang="en-IN" smtClean="0"/>
              <a:t>27-03-2026</a:t>
            </a:fld>
            <a:endParaRPr lang="en-IN"/>
          </a:p>
        </p:txBody>
      </p:sp>
      <p:sp>
        <p:nvSpPr>
          <p:cNvPr id="6" name="Footer Placeholder 5">
            <a:extLst>
              <a:ext uri="{FF2B5EF4-FFF2-40B4-BE49-F238E27FC236}">
                <a16:creationId xmlns:a16="http://schemas.microsoft.com/office/drawing/2014/main" id="{DB269468-B7CA-9CFE-9577-9760139AC1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E580DB-4979-2C0A-71A7-512FA476F471}"/>
              </a:ext>
            </a:extLst>
          </p:cNvPr>
          <p:cNvSpPr>
            <a:spLocks noGrp="1"/>
          </p:cNvSpPr>
          <p:nvPr>
            <p:ph type="sldNum" sz="quarter" idx="12"/>
          </p:nvPr>
        </p:nvSpPr>
        <p:spPr/>
        <p:txBody>
          <a:bodyPr/>
          <a:lstStyle/>
          <a:p>
            <a:fld id="{C31DC963-3483-4C2E-8E87-5111B789A262}" type="slidenum">
              <a:rPr lang="en-IN" smtClean="0"/>
              <a:t>‹#›</a:t>
            </a:fld>
            <a:endParaRPr lang="en-IN"/>
          </a:p>
        </p:txBody>
      </p:sp>
    </p:spTree>
    <p:extLst>
      <p:ext uri="{BB962C8B-B14F-4D97-AF65-F5344CB8AC3E}">
        <p14:creationId xmlns:p14="http://schemas.microsoft.com/office/powerpoint/2010/main" val="4228881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12961-1755-6AB9-8E3A-09992A4089E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2086A2-C912-E325-150E-54911BD2B6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3DF88B-73D3-2E34-0C24-B91D16DB6E52}"/>
              </a:ext>
            </a:extLst>
          </p:cNvPr>
          <p:cNvSpPr>
            <a:spLocks noGrp="1"/>
          </p:cNvSpPr>
          <p:nvPr>
            <p:ph type="dt" sz="half" idx="10"/>
          </p:nvPr>
        </p:nvSpPr>
        <p:spPr/>
        <p:txBody>
          <a:bodyPr/>
          <a:lstStyle/>
          <a:p>
            <a:fld id="{6DEC8E13-C9CD-40B0-8D04-A8F91AD72B84}" type="datetimeFigureOut">
              <a:rPr lang="en-IN" smtClean="0"/>
              <a:t>27-03-2026</a:t>
            </a:fld>
            <a:endParaRPr lang="en-IN"/>
          </a:p>
        </p:txBody>
      </p:sp>
      <p:sp>
        <p:nvSpPr>
          <p:cNvPr id="5" name="Footer Placeholder 4">
            <a:extLst>
              <a:ext uri="{FF2B5EF4-FFF2-40B4-BE49-F238E27FC236}">
                <a16:creationId xmlns:a16="http://schemas.microsoft.com/office/drawing/2014/main" id="{F022E641-3A68-16D4-7015-F52B4259F1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D27949-8AB0-54E9-C34F-B6F6C7A23954}"/>
              </a:ext>
            </a:extLst>
          </p:cNvPr>
          <p:cNvSpPr>
            <a:spLocks noGrp="1"/>
          </p:cNvSpPr>
          <p:nvPr>
            <p:ph type="sldNum" sz="quarter" idx="12"/>
          </p:nvPr>
        </p:nvSpPr>
        <p:spPr/>
        <p:txBody>
          <a:bodyPr/>
          <a:lstStyle/>
          <a:p>
            <a:fld id="{C31DC963-3483-4C2E-8E87-5111B789A262}" type="slidenum">
              <a:rPr lang="en-IN" smtClean="0"/>
              <a:t>‹#›</a:t>
            </a:fld>
            <a:endParaRPr lang="en-IN"/>
          </a:p>
        </p:txBody>
      </p:sp>
    </p:spTree>
    <p:extLst>
      <p:ext uri="{BB962C8B-B14F-4D97-AF65-F5344CB8AC3E}">
        <p14:creationId xmlns:p14="http://schemas.microsoft.com/office/powerpoint/2010/main" val="3964697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BDC2D7-2FEF-F62D-793D-CB124A981B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ACE174-5306-D57B-4574-D2E290611F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84E828-F16F-BD5C-820A-3AB4A9D26EB0}"/>
              </a:ext>
            </a:extLst>
          </p:cNvPr>
          <p:cNvSpPr>
            <a:spLocks noGrp="1"/>
          </p:cNvSpPr>
          <p:nvPr>
            <p:ph type="dt" sz="half" idx="10"/>
          </p:nvPr>
        </p:nvSpPr>
        <p:spPr/>
        <p:txBody>
          <a:bodyPr/>
          <a:lstStyle/>
          <a:p>
            <a:fld id="{6DEC8E13-C9CD-40B0-8D04-A8F91AD72B84}" type="datetimeFigureOut">
              <a:rPr lang="en-IN" smtClean="0"/>
              <a:t>27-03-2026</a:t>
            </a:fld>
            <a:endParaRPr lang="en-IN"/>
          </a:p>
        </p:txBody>
      </p:sp>
      <p:sp>
        <p:nvSpPr>
          <p:cNvPr id="5" name="Footer Placeholder 4">
            <a:extLst>
              <a:ext uri="{FF2B5EF4-FFF2-40B4-BE49-F238E27FC236}">
                <a16:creationId xmlns:a16="http://schemas.microsoft.com/office/drawing/2014/main" id="{89BF41D9-26A4-F4BE-971A-DE4203F9E9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20BCDD-CC4D-5F2E-7EF1-A859ED4D65CD}"/>
              </a:ext>
            </a:extLst>
          </p:cNvPr>
          <p:cNvSpPr>
            <a:spLocks noGrp="1"/>
          </p:cNvSpPr>
          <p:nvPr>
            <p:ph type="sldNum" sz="quarter" idx="12"/>
          </p:nvPr>
        </p:nvSpPr>
        <p:spPr/>
        <p:txBody>
          <a:bodyPr/>
          <a:lstStyle/>
          <a:p>
            <a:fld id="{C31DC963-3483-4C2E-8E87-5111B789A262}" type="slidenum">
              <a:rPr lang="en-IN" smtClean="0"/>
              <a:t>‹#›</a:t>
            </a:fld>
            <a:endParaRPr lang="en-IN"/>
          </a:p>
        </p:txBody>
      </p:sp>
    </p:spTree>
    <p:extLst>
      <p:ext uri="{BB962C8B-B14F-4D97-AF65-F5344CB8AC3E}">
        <p14:creationId xmlns:p14="http://schemas.microsoft.com/office/powerpoint/2010/main" val="3510340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12886B-421E-05C2-BD6C-ED7C24CAB9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1DFFF0-26A7-312F-A218-C203DF7D2B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5FBBE7-3088-E80C-E18D-65C77330DA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EC8E13-C9CD-40B0-8D04-A8F91AD72B84}" type="datetimeFigureOut">
              <a:rPr lang="en-IN" smtClean="0"/>
              <a:t>27-03-2026</a:t>
            </a:fld>
            <a:endParaRPr lang="en-IN"/>
          </a:p>
        </p:txBody>
      </p:sp>
      <p:sp>
        <p:nvSpPr>
          <p:cNvPr id="5" name="Footer Placeholder 4">
            <a:extLst>
              <a:ext uri="{FF2B5EF4-FFF2-40B4-BE49-F238E27FC236}">
                <a16:creationId xmlns:a16="http://schemas.microsoft.com/office/drawing/2014/main" id="{2BE4DC65-3449-48FB-244A-4935CBAC22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8723C23-94BE-26AC-B475-50648174AA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1DC963-3483-4C2E-8E87-5111B789A262}" type="slidenum">
              <a:rPr lang="en-IN" smtClean="0"/>
              <a:t>‹#›</a:t>
            </a:fld>
            <a:endParaRPr lang="en-IN"/>
          </a:p>
        </p:txBody>
      </p:sp>
    </p:spTree>
    <p:extLst>
      <p:ext uri="{BB962C8B-B14F-4D97-AF65-F5344CB8AC3E}">
        <p14:creationId xmlns:p14="http://schemas.microsoft.com/office/powerpoint/2010/main" val="2658186343"/>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FFC7C-3931-A0E7-4CBB-EE2B1AEF2B94}"/>
              </a:ext>
            </a:extLst>
          </p:cNvPr>
          <p:cNvSpPr>
            <a:spLocks noGrp="1"/>
          </p:cNvSpPr>
          <p:nvPr>
            <p:ph type="ctrTitle"/>
          </p:nvPr>
        </p:nvSpPr>
        <p:spPr>
          <a:xfrm>
            <a:off x="-645644" y="1629423"/>
            <a:ext cx="13483287" cy="2808199"/>
          </a:xfrm>
        </p:spPr>
        <p:txBody>
          <a:bodyPr>
            <a:normAutofit/>
          </a:bodyPr>
          <a:lstStyle/>
          <a:p>
            <a:pPr algn="ctr"/>
            <a:r>
              <a:rPr lang="en-US" sz="2400" b="1" dirty="0">
                <a:solidFill>
                  <a:schemeClr val="tx2">
                    <a:lumMod val="75000"/>
                  </a:schemeClr>
                </a:solidFill>
                <a:latin typeface="Times New Roman" panose="02020603050405020304" pitchFamily="18" charset="0"/>
                <a:cs typeface="Times New Roman" panose="02020603050405020304" pitchFamily="18" charset="0"/>
              </a:rPr>
              <a:t>Real time research project</a:t>
            </a:r>
            <a:br>
              <a:rPr lang="en-US" b="1" dirty="0">
                <a:solidFill>
                  <a:schemeClr val="accent5">
                    <a:lumMod val="75000"/>
                  </a:schemeClr>
                </a:solidFill>
                <a:latin typeface="Times New Roman" panose="02020603050405020304" pitchFamily="18" charset="0"/>
                <a:cs typeface="Times New Roman" panose="02020603050405020304" pitchFamily="18" charset="0"/>
              </a:rPr>
            </a:br>
            <a:r>
              <a:rPr lang="en-US" sz="4000" b="1" dirty="0">
                <a:solidFill>
                  <a:schemeClr val="accent2">
                    <a:lumMod val="75000"/>
                  </a:schemeClr>
                </a:solidFill>
                <a:latin typeface="Times New Roman" panose="02020603050405020304" pitchFamily="18" charset="0"/>
                <a:cs typeface="Times New Roman" panose="02020603050405020304" pitchFamily="18" charset="0"/>
              </a:rPr>
              <a:t>IOT DISASTER RESPONSE SYSTEM </a:t>
            </a:r>
            <a:br>
              <a:rPr lang="en-US" sz="4000" b="1" dirty="0">
                <a:solidFill>
                  <a:schemeClr val="accent2">
                    <a:lumMod val="75000"/>
                  </a:schemeClr>
                </a:solidFill>
                <a:latin typeface="Times New Roman" panose="02020603050405020304" pitchFamily="18" charset="0"/>
                <a:cs typeface="Times New Roman" panose="02020603050405020304" pitchFamily="18" charset="0"/>
              </a:rPr>
            </a:br>
            <a:r>
              <a:rPr lang="en-US" sz="2800" b="1" dirty="0">
                <a:solidFill>
                  <a:schemeClr val="bg2">
                    <a:lumMod val="10000"/>
                  </a:schemeClr>
                </a:solidFill>
                <a:latin typeface="Times New Roman" panose="02020603050405020304" pitchFamily="18" charset="0"/>
                <a:cs typeface="Times New Roman" panose="02020603050405020304" pitchFamily="18" charset="0"/>
              </a:rPr>
              <a:t>Under the guidance of </a:t>
            </a:r>
            <a:r>
              <a:rPr lang="en-US" sz="2800" b="1" dirty="0" err="1">
                <a:solidFill>
                  <a:schemeClr val="bg2">
                    <a:lumMod val="10000"/>
                  </a:schemeClr>
                </a:solidFill>
                <a:latin typeface="Times New Roman" panose="02020603050405020304" pitchFamily="18" charset="0"/>
                <a:cs typeface="Times New Roman" panose="02020603050405020304" pitchFamily="18" charset="0"/>
              </a:rPr>
              <a:t>DR.V.Sandhya</a:t>
            </a:r>
            <a:r>
              <a:rPr lang="en-US" sz="2800" b="1" dirty="0">
                <a:solidFill>
                  <a:schemeClr val="bg2">
                    <a:lumMod val="10000"/>
                  </a:schemeClr>
                </a:solidFill>
                <a:latin typeface="Times New Roman" panose="02020603050405020304" pitchFamily="18" charset="0"/>
                <a:cs typeface="Times New Roman" panose="02020603050405020304" pitchFamily="18" charset="0"/>
              </a:rPr>
              <a:t>  </a:t>
            </a:r>
            <a:endParaRPr lang="en-IN" sz="28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BC3078C-20B4-37BB-FD4E-CF313AB0848C}"/>
              </a:ext>
            </a:extLst>
          </p:cNvPr>
          <p:cNvSpPr>
            <a:spLocks noGrp="1"/>
          </p:cNvSpPr>
          <p:nvPr>
            <p:ph type="subTitle" idx="1"/>
          </p:nvPr>
        </p:nvSpPr>
        <p:spPr>
          <a:xfrm>
            <a:off x="1322976" y="5310279"/>
            <a:ext cx="4495800" cy="1655762"/>
          </a:xfrm>
        </p:spPr>
        <p:txBody>
          <a:bodyPr/>
          <a:lstStyle/>
          <a:p>
            <a:endParaRPr lang="en-US" dirty="0"/>
          </a:p>
          <a:p>
            <a:r>
              <a:rPr lang="en-US" dirty="0">
                <a:solidFill>
                  <a:srgbClr val="0070C0"/>
                </a:solidFill>
              </a:rPr>
              <a:t> </a:t>
            </a:r>
            <a:endParaRPr lang="en-IN" b="1" dirty="0">
              <a:solidFill>
                <a:srgbClr val="0070C0"/>
              </a:solidFill>
            </a:endParaRPr>
          </a:p>
        </p:txBody>
      </p:sp>
      <p:pic>
        <p:nvPicPr>
          <p:cNvPr id="7" name="Picture 6">
            <a:extLst>
              <a:ext uri="{FF2B5EF4-FFF2-40B4-BE49-F238E27FC236}">
                <a16:creationId xmlns:a16="http://schemas.microsoft.com/office/drawing/2014/main" id="{F0364184-AB6B-71A5-B9AE-D549BACC49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886" y="38362"/>
            <a:ext cx="1998133" cy="1998133"/>
          </a:xfrm>
          <a:prstGeom prst="rect">
            <a:avLst/>
          </a:prstGeom>
        </p:spPr>
      </p:pic>
      <p:sp>
        <p:nvSpPr>
          <p:cNvPr id="6" name="TextBox 5">
            <a:extLst>
              <a:ext uri="{FF2B5EF4-FFF2-40B4-BE49-F238E27FC236}">
                <a16:creationId xmlns:a16="http://schemas.microsoft.com/office/drawing/2014/main" id="{84675404-DC0A-3372-3DCC-DBB2E0741857}"/>
              </a:ext>
            </a:extLst>
          </p:cNvPr>
          <p:cNvSpPr txBox="1"/>
          <p:nvPr/>
        </p:nvSpPr>
        <p:spPr>
          <a:xfrm>
            <a:off x="1720426" y="690287"/>
            <a:ext cx="8571654" cy="2123658"/>
          </a:xfrm>
          <a:prstGeom prst="rect">
            <a:avLst/>
          </a:prstGeom>
          <a:noFill/>
        </p:spPr>
        <p:txBody>
          <a:bodyPr wrap="square" rtlCol="0">
            <a:spAutoFit/>
          </a:bodyPr>
          <a:lstStyle/>
          <a:p>
            <a:pPr algn="ctr"/>
            <a:r>
              <a:rPr lang="en-IN" sz="2000" b="1" dirty="0">
                <a:solidFill>
                  <a:schemeClr val="accent1"/>
                </a:solidFill>
                <a:latin typeface="Times New Roman" panose="02020603050405020304" pitchFamily="18" charset="0"/>
                <a:cs typeface="Times New Roman" panose="02020603050405020304" pitchFamily="18" charset="0"/>
              </a:rPr>
              <a:t>   </a:t>
            </a:r>
            <a:r>
              <a:rPr lang="en-US" sz="2000" b="1" dirty="0">
                <a:solidFill>
                  <a:srgbClr val="7030A0"/>
                </a:solidFill>
                <a:latin typeface="Times New Roman" panose="02020603050405020304" pitchFamily="18" charset="0"/>
                <a:cs typeface="Times New Roman" pitchFamily="18" charset="0"/>
              </a:rPr>
              <a:t>CMR TECHNICAL CAMPUS</a:t>
            </a:r>
          </a:p>
          <a:p>
            <a:pPr algn="ctr"/>
            <a:r>
              <a:rPr lang="en-US" sz="2000" dirty="0">
                <a:solidFill>
                  <a:srgbClr val="0070C0"/>
                </a:solidFill>
                <a:latin typeface="Times New Roman" panose="02020603050405020304" pitchFamily="18" charset="0"/>
                <a:cs typeface="Times New Roman" panose="02020603050405020304" pitchFamily="18" charset="0"/>
              </a:rPr>
              <a:t>   UGC AUTONOMOUS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Accredited by NBA &amp; NAAC with A Grade</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Approved by AICTE, New Delhi and Affiliated to JNTU, Hyderabad</a:t>
            </a:r>
          </a:p>
          <a:p>
            <a:pPr algn="ct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IN" sz="3200" b="1" dirty="0">
                <a:solidFill>
                  <a:srgbClr val="7030A0"/>
                </a:solidFill>
                <a:latin typeface="Times New Roman"/>
                <a:cs typeface="Times New Roman"/>
              </a:rPr>
              <a:t>Department</a:t>
            </a:r>
            <a:r>
              <a:rPr lang="en-IN" sz="3200" b="1" spc="-45" dirty="0">
                <a:solidFill>
                  <a:srgbClr val="7030A0"/>
                </a:solidFill>
                <a:latin typeface="Times New Roman"/>
                <a:cs typeface="Times New Roman"/>
              </a:rPr>
              <a:t> </a:t>
            </a:r>
            <a:r>
              <a:rPr lang="en-IN" sz="3200" b="1" dirty="0">
                <a:solidFill>
                  <a:srgbClr val="7030A0"/>
                </a:solidFill>
                <a:latin typeface="Times New Roman"/>
                <a:cs typeface="Times New Roman"/>
              </a:rPr>
              <a:t>of</a:t>
            </a:r>
            <a:r>
              <a:rPr lang="en-IN" sz="3200" b="1" spc="-100" dirty="0">
                <a:solidFill>
                  <a:srgbClr val="7030A0"/>
                </a:solidFill>
                <a:latin typeface="Times New Roman"/>
                <a:cs typeface="Times New Roman"/>
              </a:rPr>
              <a:t> CSE(Data Science)</a:t>
            </a:r>
            <a:endParaRPr lang="en-IN" sz="3200" dirty="0">
              <a:solidFill>
                <a:srgbClr val="7030A0"/>
              </a:solidFill>
            </a:endParaRPr>
          </a:p>
        </p:txBody>
      </p:sp>
      <p:pic>
        <p:nvPicPr>
          <p:cNvPr id="4" name="Picture 3">
            <a:extLst>
              <a:ext uri="{FF2B5EF4-FFF2-40B4-BE49-F238E27FC236}">
                <a16:creationId xmlns:a16="http://schemas.microsoft.com/office/drawing/2014/main" id="{0A96837D-899C-F4BB-50DA-5D9E803BC0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7165" y="119642"/>
            <a:ext cx="1863319" cy="1363935"/>
          </a:xfrm>
          <a:prstGeom prst="rect">
            <a:avLst/>
          </a:prstGeom>
        </p:spPr>
      </p:pic>
      <p:sp>
        <p:nvSpPr>
          <p:cNvPr id="9" name="TextBox 8">
            <a:extLst>
              <a:ext uri="{FF2B5EF4-FFF2-40B4-BE49-F238E27FC236}">
                <a16:creationId xmlns:a16="http://schemas.microsoft.com/office/drawing/2014/main" id="{D91F9142-E695-DDEA-49E7-A8038B51EFB7}"/>
              </a:ext>
            </a:extLst>
          </p:cNvPr>
          <p:cNvSpPr txBox="1"/>
          <p:nvPr/>
        </p:nvSpPr>
        <p:spPr>
          <a:xfrm>
            <a:off x="7597140" y="5204670"/>
            <a:ext cx="6741160" cy="1200329"/>
          </a:xfrm>
          <a:prstGeom prst="rect">
            <a:avLst/>
          </a:prstGeom>
          <a:noFill/>
        </p:spPr>
        <p:txBody>
          <a:bodyPr wrap="square">
            <a:spAutoFit/>
          </a:bodyPr>
          <a:lstStyle/>
          <a:p>
            <a:r>
              <a:rPr lang="en-IN" b="1" dirty="0">
                <a:solidFill>
                  <a:schemeClr val="bg2">
                    <a:lumMod val="10000"/>
                  </a:schemeClr>
                </a:solidFill>
                <a:latin typeface="Times New Roman" panose="02020603050405020304" pitchFamily="18" charset="0"/>
                <a:cs typeface="Times New Roman" panose="02020603050405020304" pitchFamily="18" charset="0"/>
              </a:rPr>
              <a:t>Yashaswi Dasari 247R1A67E8</a:t>
            </a:r>
          </a:p>
          <a:p>
            <a:r>
              <a:rPr lang="en-IN" b="1" dirty="0">
                <a:solidFill>
                  <a:schemeClr val="bg2">
                    <a:lumMod val="10000"/>
                  </a:schemeClr>
                </a:solidFill>
                <a:latin typeface="Times New Roman" panose="02020603050405020304" pitchFamily="18" charset="0"/>
                <a:cs typeface="Times New Roman" panose="02020603050405020304" pitchFamily="18" charset="0"/>
              </a:rPr>
              <a:t> </a:t>
            </a:r>
            <a:r>
              <a:rPr lang="en-IN" b="1" dirty="0" err="1">
                <a:solidFill>
                  <a:schemeClr val="bg2">
                    <a:lumMod val="10000"/>
                  </a:schemeClr>
                </a:solidFill>
                <a:latin typeface="Times New Roman" panose="02020603050405020304" pitchFamily="18" charset="0"/>
                <a:cs typeface="Times New Roman" panose="02020603050405020304" pitchFamily="18" charset="0"/>
              </a:rPr>
              <a:t>B.Arun</a:t>
            </a:r>
            <a:r>
              <a:rPr lang="en-IN" b="1" dirty="0">
                <a:solidFill>
                  <a:schemeClr val="bg2">
                    <a:lumMod val="10000"/>
                  </a:schemeClr>
                </a:solidFill>
                <a:latin typeface="Times New Roman" panose="02020603050405020304" pitchFamily="18" charset="0"/>
                <a:cs typeface="Times New Roman" panose="02020603050405020304" pitchFamily="18" charset="0"/>
              </a:rPr>
              <a:t> Kumar 247R1A67D7</a:t>
            </a:r>
          </a:p>
          <a:p>
            <a:r>
              <a:rPr lang="en-IN" b="1" dirty="0" err="1">
                <a:solidFill>
                  <a:schemeClr val="bg2">
                    <a:lumMod val="10000"/>
                  </a:schemeClr>
                </a:solidFill>
                <a:latin typeface="Times New Roman" panose="02020603050405020304" pitchFamily="18" charset="0"/>
                <a:cs typeface="Times New Roman" panose="02020603050405020304" pitchFamily="18" charset="0"/>
              </a:rPr>
              <a:t>Avuti</a:t>
            </a:r>
            <a:r>
              <a:rPr lang="en-IN" b="1" dirty="0">
                <a:solidFill>
                  <a:schemeClr val="bg2">
                    <a:lumMod val="10000"/>
                  </a:schemeClr>
                </a:solidFill>
                <a:latin typeface="Times New Roman" panose="02020603050405020304" pitchFamily="18" charset="0"/>
                <a:cs typeface="Times New Roman" panose="02020603050405020304" pitchFamily="18" charset="0"/>
              </a:rPr>
              <a:t> Sri Vamshi  247R1A67D4</a:t>
            </a:r>
          </a:p>
          <a:p>
            <a:r>
              <a:rPr lang="en-IN" b="1" dirty="0">
                <a:solidFill>
                  <a:schemeClr val="bg2">
                    <a:lumMod val="10000"/>
                  </a:schemeClr>
                </a:solidFill>
                <a:latin typeface="Times New Roman" panose="02020603050405020304" pitchFamily="18" charset="0"/>
                <a:cs typeface="Times New Roman" panose="02020603050405020304" pitchFamily="18" charset="0"/>
              </a:rPr>
              <a:t>Konduru Gowtham Kumar 257R5A6717</a:t>
            </a: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0123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7EDDB-17E1-C420-0461-09CA447E4B7D}"/>
              </a:ext>
            </a:extLst>
          </p:cNvPr>
          <p:cNvSpPr>
            <a:spLocks noGrp="1"/>
          </p:cNvSpPr>
          <p:nvPr>
            <p:ph type="title"/>
          </p:nvPr>
        </p:nvSpPr>
        <p:spPr>
          <a:xfrm>
            <a:off x="945312" y="337194"/>
            <a:ext cx="8911687" cy="1280890"/>
          </a:xfrm>
        </p:spPr>
        <p:txBody>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Contents:</a:t>
            </a:r>
            <a:endParaRPr lang="en-IN" b="1" u="sng"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55257D9-D647-7EF5-DF77-7F33D10C94C9}"/>
              </a:ext>
            </a:extLst>
          </p:cNvPr>
          <p:cNvSpPr>
            <a:spLocks noGrp="1" noChangeArrowheads="1"/>
          </p:cNvSpPr>
          <p:nvPr>
            <p:ph idx="1"/>
          </p:nvPr>
        </p:nvSpPr>
        <p:spPr bwMode="auto">
          <a:xfrm>
            <a:off x="1393615" y="1467059"/>
            <a:ext cx="4077546"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Abstract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Definition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Literature Survey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Methodology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Analysis &amp; Design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088801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A2DF6-8319-EAD8-62FB-EC6D9A4D4C26}"/>
              </a:ext>
            </a:extLst>
          </p:cNvPr>
          <p:cNvSpPr>
            <a:spLocks noGrp="1"/>
          </p:cNvSpPr>
          <p:nvPr>
            <p:ph type="title"/>
          </p:nvPr>
        </p:nvSpPr>
        <p:spPr>
          <a:xfrm>
            <a:off x="567268" y="-106364"/>
            <a:ext cx="10515600" cy="1325563"/>
          </a:xfrm>
        </p:spPr>
        <p:txBody>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Abstract:</a:t>
            </a:r>
            <a:endParaRPr lang="en-IN" b="1" u="sng"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50BC75-0514-6EF4-4BE0-17E23D6F2D8A}"/>
              </a:ext>
            </a:extLst>
          </p:cNvPr>
          <p:cNvSpPr>
            <a:spLocks noGrp="1"/>
          </p:cNvSpPr>
          <p:nvPr>
            <p:ph idx="1"/>
          </p:nvPr>
        </p:nvSpPr>
        <p:spPr>
          <a:xfrm>
            <a:off x="567268" y="1066799"/>
            <a:ext cx="11409680" cy="5858934"/>
          </a:xfrm>
        </p:spPr>
        <p:txBody>
          <a:bodyPr>
            <a:normAutofit fontScale="92500" lnSpcReduction="10000"/>
          </a:bodyPr>
          <a:lstStyle/>
          <a:p>
            <a:pPr marL="0" indent="0" algn="just">
              <a:buNone/>
            </a:pPr>
            <a:r>
              <a:rPr lang="en-US" sz="2200" dirty="0">
                <a:latin typeface="Times New Roman" panose="02020603050405020304" pitchFamily="18" charset="0"/>
                <a:cs typeface="Times New Roman" panose="02020603050405020304" pitchFamily="18" charset="0"/>
              </a:rPr>
              <a:t>       This project is titles as “IOT Based Disaster Response System”.</a:t>
            </a:r>
          </a:p>
          <a:p>
            <a:pPr marL="0" indent="0" algn="just">
              <a:buNone/>
            </a:pPr>
            <a:r>
              <a:rPr lang="en-US" sz="2200" dirty="0">
                <a:latin typeface="Times New Roman" panose="02020603050405020304" pitchFamily="18" charset="0"/>
                <a:cs typeface="Times New Roman" panose="02020603050405020304" pitchFamily="18" charset="0"/>
              </a:rPr>
              <a:t>Natural disasters can cause severe damage due to the lack of early detection systems. This project presents an IoT-based disaster response system using ESP32, DHT11, and a gyroscope sensor to monitor temperature and vibrations in real time. The system detects abnormal conditions by comparing sensor data with predefined thresholds. When a potential hazard is identified, it triggers a buzzer and sends instant alerts to users through the Blynk IoT platform. The solution is cost-effective, reliable, and suitable for improving safety in disaster-prone areas.</a:t>
            </a:r>
          </a:p>
          <a:p>
            <a:pPr marL="0" indent="0" algn="just">
              <a:buNone/>
            </a:pPr>
            <a:r>
              <a:rPr lang="en-US" sz="2200" b="1" dirty="0">
                <a:solidFill>
                  <a:schemeClr val="accent1">
                    <a:lumMod val="50000"/>
                  </a:schemeClr>
                </a:solidFill>
                <a:latin typeface="Times New Roman" panose="02020603050405020304" pitchFamily="18" charset="0"/>
                <a:cs typeface="Times New Roman" panose="02020603050405020304" pitchFamily="18" charset="0"/>
              </a:rPr>
              <a:t>Keywords:</a:t>
            </a:r>
          </a:p>
          <a:p>
            <a:pPr algn="just"/>
            <a:r>
              <a:rPr lang="en-US" sz="2200" dirty="0">
                <a:latin typeface="Times New Roman" panose="02020603050405020304" pitchFamily="18" charset="0"/>
                <a:cs typeface="Times New Roman" panose="02020603050405020304" pitchFamily="18" charset="0"/>
              </a:rPr>
              <a:t>Internet of Things (IoT)</a:t>
            </a:r>
          </a:p>
          <a:p>
            <a:pPr algn="just"/>
            <a:r>
              <a:rPr lang="en-US" sz="2200" dirty="0">
                <a:latin typeface="Times New Roman" panose="02020603050405020304" pitchFamily="18" charset="0"/>
                <a:cs typeface="Times New Roman" panose="02020603050405020304" pitchFamily="18" charset="0"/>
              </a:rPr>
              <a:t>Disaster Detection</a:t>
            </a:r>
          </a:p>
          <a:p>
            <a:pPr algn="just"/>
            <a:r>
              <a:rPr lang="en-US" sz="2200" dirty="0">
                <a:latin typeface="Times New Roman" panose="02020603050405020304" pitchFamily="18" charset="0"/>
                <a:cs typeface="Times New Roman" panose="02020603050405020304" pitchFamily="18" charset="0"/>
              </a:rPr>
              <a:t>Real-Time Monitoring</a:t>
            </a:r>
          </a:p>
          <a:p>
            <a:pPr algn="just"/>
            <a:r>
              <a:rPr lang="en-US" sz="2200" dirty="0">
                <a:latin typeface="Times New Roman" panose="02020603050405020304" pitchFamily="18" charset="0"/>
                <a:cs typeface="Times New Roman" panose="02020603050405020304" pitchFamily="18" charset="0"/>
              </a:rPr>
              <a:t>ESP32,DHT11 </a:t>
            </a:r>
            <a:r>
              <a:rPr lang="en-US" sz="2200" dirty="0" err="1">
                <a:latin typeface="Times New Roman" panose="02020603050405020304" pitchFamily="18" charset="0"/>
                <a:cs typeface="Times New Roman" panose="02020603050405020304" pitchFamily="18" charset="0"/>
              </a:rPr>
              <a:t>Sensor,Gyroscope</a:t>
            </a:r>
            <a:r>
              <a:rPr lang="en-US" sz="2200" dirty="0">
                <a:latin typeface="Times New Roman" panose="02020603050405020304" pitchFamily="18" charset="0"/>
                <a:cs typeface="Times New Roman" panose="02020603050405020304" pitchFamily="18" charset="0"/>
              </a:rPr>
              <a:t> Sensor</a:t>
            </a:r>
          </a:p>
          <a:p>
            <a:pPr algn="just"/>
            <a:r>
              <a:rPr lang="en-US" sz="2200" dirty="0">
                <a:latin typeface="Times New Roman" panose="02020603050405020304" pitchFamily="18" charset="0"/>
                <a:cs typeface="Times New Roman" panose="02020603050405020304" pitchFamily="18" charset="0"/>
              </a:rPr>
              <a:t>Wireless Communication</a:t>
            </a:r>
          </a:p>
          <a:p>
            <a:pPr algn="just"/>
            <a:r>
              <a:rPr lang="en-US" sz="2200" dirty="0">
                <a:latin typeface="Times New Roman" panose="02020603050405020304" pitchFamily="18" charset="0"/>
                <a:cs typeface="Times New Roman" panose="02020603050405020304" pitchFamily="18" charset="0"/>
              </a:rPr>
              <a:t>Blynk IoT</a:t>
            </a:r>
          </a:p>
          <a:p>
            <a:pPr algn="just"/>
            <a:r>
              <a:rPr lang="en-US" sz="2200" dirty="0">
                <a:latin typeface="Times New Roman" panose="02020603050405020304" pitchFamily="18" charset="0"/>
                <a:cs typeface="Times New Roman" panose="02020603050405020304" pitchFamily="18" charset="0"/>
              </a:rPr>
              <a:t>Alert System</a:t>
            </a:r>
          </a:p>
          <a:p>
            <a:pPr algn="just"/>
            <a:r>
              <a:rPr lang="en-US" sz="2200" dirty="0">
                <a:latin typeface="Times New Roman" panose="02020603050405020304" pitchFamily="18" charset="0"/>
                <a:cs typeface="Times New Roman" panose="02020603050405020304" pitchFamily="18" charset="0"/>
              </a:rPr>
              <a:t>Remote Monitoring</a:t>
            </a:r>
          </a:p>
          <a:p>
            <a:pPr algn="just"/>
            <a:r>
              <a:rPr lang="en-US" sz="2200" dirty="0">
                <a:latin typeface="Times New Roman" panose="02020603050405020304" pitchFamily="18" charset="0"/>
                <a:cs typeface="Times New Roman" panose="02020603050405020304" pitchFamily="18" charset="0"/>
              </a:rPr>
              <a:t>Low-Cost Solution</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226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C0F73-D6C7-F693-811F-BEEB6B6AF704}"/>
              </a:ext>
            </a:extLst>
          </p:cNvPr>
          <p:cNvSpPr>
            <a:spLocks noGrp="1"/>
          </p:cNvSpPr>
          <p:nvPr>
            <p:ph type="title"/>
          </p:nvPr>
        </p:nvSpPr>
        <p:spPr>
          <a:xfrm>
            <a:off x="838200" y="239818"/>
            <a:ext cx="10515600" cy="1325563"/>
          </a:xfrm>
        </p:spPr>
        <p:txBody>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Problem Definition:</a:t>
            </a:r>
            <a:endParaRPr lang="en-IN" b="1" u="sng"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10FBD2FF-7BB5-273C-4667-0CE5C1228283}"/>
              </a:ext>
            </a:extLst>
          </p:cNvPr>
          <p:cNvSpPr>
            <a:spLocks noGrp="1"/>
          </p:cNvSpPr>
          <p:nvPr>
            <p:ph idx="1"/>
          </p:nvPr>
        </p:nvSpPr>
        <p:spPr>
          <a:xfrm>
            <a:off x="1339423" y="1565381"/>
            <a:ext cx="9396310" cy="4197032"/>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Natural disasters such as earthquakes and sudden environmental changes often occur without warning, causing severe damage to life and property. In many regions, especially rural and remote areas, there is a lack of affordable and real-time monitoring systems that can detect early signs of such disasters. Existing solutions are either expensive, complex, or not easily accessible to common users. Moreover, delayed detection and lack of immediate alert mechanisms increase the risk to human safety. Traditional systems do not provide continuous monitoring or instant notifications, making it difficult for people to respond quickly during emergencies. Therefore, there is a need for a low-cost, efficient, and real-time disaster monitoring system that can continuously track environmental conditions, detect abnormal situations, and provide instant alerts both locally and remotely to improve safety and response time.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0370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7CA73-F7B9-ABD4-4A4D-7C6965CB7C03}"/>
              </a:ext>
            </a:extLst>
          </p:cNvPr>
          <p:cNvSpPr>
            <a:spLocks noGrp="1"/>
          </p:cNvSpPr>
          <p:nvPr>
            <p:ph type="title"/>
          </p:nvPr>
        </p:nvSpPr>
        <p:spPr>
          <a:xfrm>
            <a:off x="395757" y="297242"/>
            <a:ext cx="10515600" cy="1325563"/>
          </a:xfrm>
        </p:spPr>
        <p:txBody>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Literature Survey:</a:t>
            </a:r>
            <a:endParaRPr lang="en-IN" b="1" u="sng" dirty="0">
              <a:solidFill>
                <a:schemeClr val="accent2">
                  <a:lumMod val="75000"/>
                </a:schemeClr>
              </a:solidFill>
              <a:latin typeface="Times New Roman" panose="02020603050405020304" pitchFamily="18" charset="0"/>
              <a:cs typeface="Times New Roman" panose="02020603050405020304" pitchFamily="18" charset="0"/>
            </a:endParaRPr>
          </a:p>
        </p:txBody>
      </p:sp>
      <p:graphicFrame>
        <p:nvGraphicFramePr>
          <p:cNvPr id="8" name="Content Placeholder 7">
            <a:extLst>
              <a:ext uri="{FF2B5EF4-FFF2-40B4-BE49-F238E27FC236}">
                <a16:creationId xmlns:a16="http://schemas.microsoft.com/office/drawing/2014/main" id="{997203B7-D90A-1E25-EB30-A5259F5BC3BF}"/>
              </a:ext>
            </a:extLst>
          </p:cNvPr>
          <p:cNvGraphicFramePr>
            <a:graphicFrameLocks noGrp="1"/>
          </p:cNvGraphicFramePr>
          <p:nvPr>
            <p:ph idx="1"/>
            <p:extLst>
              <p:ext uri="{D42A27DB-BD31-4B8C-83A1-F6EECF244321}">
                <p14:modId xmlns:p14="http://schemas.microsoft.com/office/powerpoint/2010/main" val="446013019"/>
              </p:ext>
            </p:extLst>
          </p:nvPr>
        </p:nvGraphicFramePr>
        <p:xfrm>
          <a:off x="395757" y="1615698"/>
          <a:ext cx="11277600" cy="4879445"/>
        </p:xfrm>
        <a:graphic>
          <a:graphicData uri="http://schemas.openxmlformats.org/drawingml/2006/table">
            <a:tbl>
              <a:tblPr firstRow="1" bandRow="1">
                <a:tableStyleId>{5C22544A-7EE6-4342-B048-85BDC9FD1C3A}</a:tableStyleId>
              </a:tblPr>
              <a:tblGrid>
                <a:gridCol w="3759200">
                  <a:extLst>
                    <a:ext uri="{9D8B030D-6E8A-4147-A177-3AD203B41FA5}">
                      <a16:colId xmlns:a16="http://schemas.microsoft.com/office/drawing/2014/main" val="2075012105"/>
                    </a:ext>
                  </a:extLst>
                </a:gridCol>
                <a:gridCol w="3759200">
                  <a:extLst>
                    <a:ext uri="{9D8B030D-6E8A-4147-A177-3AD203B41FA5}">
                      <a16:colId xmlns:a16="http://schemas.microsoft.com/office/drawing/2014/main" val="675388188"/>
                    </a:ext>
                  </a:extLst>
                </a:gridCol>
                <a:gridCol w="3759200">
                  <a:extLst>
                    <a:ext uri="{9D8B030D-6E8A-4147-A177-3AD203B41FA5}">
                      <a16:colId xmlns:a16="http://schemas.microsoft.com/office/drawing/2014/main" val="3523518731"/>
                    </a:ext>
                  </a:extLst>
                </a:gridCol>
              </a:tblGrid>
              <a:tr h="975889">
                <a:tc>
                  <a:txBody>
                    <a:bodyPr/>
                    <a:lstStyle/>
                    <a:p>
                      <a:endParaRPr lang="en-US" dirty="0"/>
                    </a:p>
                    <a:p>
                      <a:r>
                        <a:rPr lang="en-IN" dirty="0"/>
                        <a:t>               </a:t>
                      </a:r>
                      <a:r>
                        <a:rPr lang="en-IN" sz="2400" dirty="0">
                          <a:latin typeface="Times New Roman" panose="02020603050405020304" pitchFamily="18" charset="0"/>
                          <a:cs typeface="Times New Roman" panose="02020603050405020304" pitchFamily="18" charset="0"/>
                        </a:rPr>
                        <a:t>Author Name</a:t>
                      </a:r>
                    </a:p>
                  </a:txBody>
                  <a:tcPr/>
                </a:tc>
                <a:tc>
                  <a:txBody>
                    <a:bodyPr/>
                    <a:lstStyle/>
                    <a:p>
                      <a:r>
                        <a:rPr lang="en-US" sz="1600" i="0" dirty="0">
                          <a:latin typeface="Times New Roman" panose="02020603050405020304" pitchFamily="18" charset="0"/>
                          <a:cs typeface="Times New Roman" panose="02020603050405020304" pitchFamily="18" charset="0"/>
                        </a:rPr>
                        <a:t>   </a:t>
                      </a:r>
                    </a:p>
                    <a:p>
                      <a:r>
                        <a:rPr lang="en-US" sz="1600" i="0"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Article Name</a:t>
                      </a:r>
                      <a:endParaRPr lang="en-IN" sz="2400" i="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t>
                      </a:r>
                      <a:r>
                        <a:rPr lang="en-IN" sz="240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Research</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5025782"/>
                  </a:ext>
                </a:extLst>
              </a:tr>
              <a:tr h="975889">
                <a:tc>
                  <a:txBody>
                    <a:bodyPr/>
                    <a:lstStyle/>
                    <a:p>
                      <a:endParaRPr lang="en-US" dirty="0"/>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S.Patel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R.Mehta</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i="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i="0" dirty="0">
                          <a:latin typeface="Times New Roman" panose="02020603050405020304" pitchFamily="18" charset="0"/>
                          <a:cs typeface="Times New Roman" panose="02020603050405020304" pitchFamily="18" charset="0"/>
                        </a:rPr>
                        <a:t>IoT Enabled Emergency Response System-2021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Integrated ESP32 with cloud platforms to monitor temperature and vibrations and send real-time mobile notifications.</a:t>
                      </a:r>
                    </a:p>
                  </a:txBody>
                  <a:tcPr/>
                </a:tc>
                <a:extLst>
                  <a:ext uri="{0D108BD9-81ED-4DB2-BD59-A6C34878D82A}">
                    <a16:rowId xmlns:a16="http://schemas.microsoft.com/office/drawing/2014/main" val="3896089734"/>
                  </a:ext>
                </a:extLst>
              </a:tr>
              <a:tr h="9758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      Rakshita M.B., Siddharth Sharma</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i="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i="0" dirty="0">
                          <a:latin typeface="Times New Roman" panose="02020603050405020304" pitchFamily="18" charset="0"/>
                          <a:cs typeface="Times New Roman" panose="02020603050405020304" pitchFamily="18" charset="0"/>
                        </a:rPr>
                        <a:t>IoT Based Seismic Activity Monitoring-2020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Designed a seismic monitoring system using gyroscope sensors connected to Blynk IoT platform for real-time alerts</a:t>
                      </a:r>
                      <a:r>
                        <a:rPr lang="en-US" dirty="0"/>
                        <a:t>.</a:t>
                      </a:r>
                    </a:p>
                  </a:txBody>
                  <a:tcPr/>
                </a:tc>
                <a:extLst>
                  <a:ext uri="{0D108BD9-81ED-4DB2-BD59-A6C34878D82A}">
                    <a16:rowId xmlns:a16="http://schemas.microsoft.com/office/drawing/2014/main" val="1013196258"/>
                  </a:ext>
                </a:extLst>
              </a:tr>
              <a:tr h="975889">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777683030"/>
                  </a:ext>
                </a:extLst>
              </a:tr>
              <a:tr h="975889">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02883767"/>
                  </a:ext>
                </a:extLst>
              </a:tr>
            </a:tbl>
          </a:graphicData>
        </a:graphic>
      </p:graphicFrame>
      <p:graphicFrame>
        <p:nvGraphicFramePr>
          <p:cNvPr id="9" name="Table 8">
            <a:extLst>
              <a:ext uri="{FF2B5EF4-FFF2-40B4-BE49-F238E27FC236}">
                <a16:creationId xmlns:a16="http://schemas.microsoft.com/office/drawing/2014/main" id="{C89BCC01-7BE2-662F-4AC2-21B84AD7DB0D}"/>
              </a:ext>
            </a:extLst>
          </p:cNvPr>
          <p:cNvGraphicFramePr>
            <a:graphicFrameLocks noGrp="1"/>
          </p:cNvGraphicFramePr>
          <p:nvPr>
            <p:extLst>
              <p:ext uri="{D42A27DB-BD31-4B8C-83A1-F6EECF244321}">
                <p14:modId xmlns:p14="http://schemas.microsoft.com/office/powerpoint/2010/main" val="2301824420"/>
              </p:ext>
            </p:extLst>
          </p:nvPr>
        </p:nvGraphicFramePr>
        <p:xfrm>
          <a:off x="-3183711" y="5090986"/>
          <a:ext cx="14857068" cy="2059831"/>
        </p:xfrm>
        <a:graphic>
          <a:graphicData uri="http://schemas.openxmlformats.org/drawingml/2006/table">
            <a:tbl>
              <a:tblPr/>
              <a:tblGrid>
                <a:gridCol w="3714267">
                  <a:extLst>
                    <a:ext uri="{9D8B030D-6E8A-4147-A177-3AD203B41FA5}">
                      <a16:colId xmlns:a16="http://schemas.microsoft.com/office/drawing/2014/main" val="828730943"/>
                    </a:ext>
                  </a:extLst>
                </a:gridCol>
                <a:gridCol w="3714267">
                  <a:extLst>
                    <a:ext uri="{9D8B030D-6E8A-4147-A177-3AD203B41FA5}">
                      <a16:colId xmlns:a16="http://schemas.microsoft.com/office/drawing/2014/main" val="1592680267"/>
                    </a:ext>
                  </a:extLst>
                </a:gridCol>
                <a:gridCol w="3714267">
                  <a:extLst>
                    <a:ext uri="{9D8B030D-6E8A-4147-A177-3AD203B41FA5}">
                      <a16:colId xmlns:a16="http://schemas.microsoft.com/office/drawing/2014/main" val="2290308302"/>
                    </a:ext>
                  </a:extLst>
                </a:gridCol>
                <a:gridCol w="3714267">
                  <a:extLst>
                    <a:ext uri="{9D8B030D-6E8A-4147-A177-3AD203B41FA5}">
                      <a16:colId xmlns:a16="http://schemas.microsoft.com/office/drawing/2014/main" val="4239260955"/>
                    </a:ext>
                  </a:extLst>
                </a:gridCol>
              </a:tblGrid>
              <a:tr h="2059831">
                <a:tc>
                  <a:txBody>
                    <a:bodyPr/>
                    <a:lstStyle/>
                    <a:p>
                      <a:pPr>
                        <a:buNone/>
                      </a:pPr>
                      <a:endParaRPr lang="en-IN" dirty="0"/>
                    </a:p>
                  </a:txBody>
                  <a:tcPr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           Alok Jadhav, Vrishali Desai          </a:t>
                      </a:r>
                    </a:p>
                  </a:txBody>
                  <a:tcPr anchor="ctr">
                    <a:lnL>
                      <a:noFill/>
                    </a:lnL>
                    <a:lnR>
                      <a:noFill/>
                    </a:lnR>
                    <a:lnT>
                      <a:noFill/>
                    </a:lnT>
                    <a:lnB>
                      <a:noFill/>
                    </a:lnB>
                    <a:noFill/>
                  </a:tcPr>
                </a:tc>
                <a:tc>
                  <a:txBody>
                    <a:bodyPr/>
                    <a:lstStyle/>
                    <a:p>
                      <a:pPr>
                        <a:buNone/>
                      </a:pPr>
                      <a:r>
                        <a:rPr lang="en-IN" sz="1600" i="0" dirty="0">
                          <a:latin typeface="Times New Roman" panose="02020603050405020304" pitchFamily="18" charset="0"/>
                          <a:cs typeface="Times New Roman" panose="02020603050405020304" pitchFamily="18" charset="0"/>
                        </a:rPr>
                        <a:t>Cloud Integrated Disaster Monitoring-2018</a:t>
                      </a:r>
                    </a:p>
                  </a:txBody>
                  <a:tcPr anchor="ctr">
                    <a:lnL>
                      <a:noFill/>
                    </a:lnL>
                    <a:lnR>
                      <a:noFill/>
                    </a:lnR>
                    <a:lnT>
                      <a:noFill/>
                    </a:lnT>
                    <a:lnB>
                      <a:noFill/>
                    </a:lnB>
                    <a:noFill/>
                  </a:tcPr>
                </a:tc>
                <a:tc>
                  <a:txBody>
                    <a:bodyPr/>
                    <a:lstStyle/>
                    <a:p>
                      <a:pPr>
                        <a:buNone/>
                      </a:pPr>
                      <a:r>
                        <a:rPr lang="en-US" sz="1600" dirty="0">
                          <a:latin typeface="Times New Roman" panose="02020603050405020304" pitchFamily="18" charset="0"/>
                          <a:cs typeface="Times New Roman" panose="02020603050405020304" pitchFamily="18" charset="0"/>
                        </a:rPr>
                        <a:t>Focused on cloud integration for disaster monitoring including remote data storage, visualization, and predictive analysis.</a:t>
                      </a:r>
                    </a:p>
                  </a:txBody>
                  <a:tcPr anchor="ctr">
                    <a:lnL>
                      <a:noFill/>
                    </a:lnL>
                    <a:lnR>
                      <a:noFill/>
                    </a:lnR>
                    <a:lnT>
                      <a:noFill/>
                    </a:lnT>
                    <a:lnB>
                      <a:noFill/>
                    </a:lnB>
                    <a:noFill/>
                  </a:tcPr>
                </a:tc>
                <a:extLst>
                  <a:ext uri="{0D108BD9-81ED-4DB2-BD59-A6C34878D82A}">
                    <a16:rowId xmlns:a16="http://schemas.microsoft.com/office/drawing/2014/main" val="2415422943"/>
                  </a:ext>
                </a:extLst>
              </a:tr>
            </a:tbl>
          </a:graphicData>
        </a:graphic>
      </p:graphicFrame>
      <p:graphicFrame>
        <p:nvGraphicFramePr>
          <p:cNvPr id="10" name="Table 9">
            <a:extLst>
              <a:ext uri="{FF2B5EF4-FFF2-40B4-BE49-F238E27FC236}">
                <a16:creationId xmlns:a16="http://schemas.microsoft.com/office/drawing/2014/main" id="{33B7A1CE-A412-80FF-426B-EE66E8E0ED0D}"/>
              </a:ext>
            </a:extLst>
          </p:cNvPr>
          <p:cNvGraphicFramePr>
            <a:graphicFrameLocks noGrp="1"/>
          </p:cNvGraphicFramePr>
          <p:nvPr>
            <p:extLst>
              <p:ext uri="{D42A27DB-BD31-4B8C-83A1-F6EECF244321}">
                <p14:modId xmlns:p14="http://schemas.microsoft.com/office/powerpoint/2010/main" val="1541211341"/>
              </p:ext>
            </p:extLst>
          </p:nvPr>
        </p:nvGraphicFramePr>
        <p:xfrm>
          <a:off x="316653" y="4470853"/>
          <a:ext cx="11558694" cy="1066800"/>
        </p:xfrm>
        <a:graphic>
          <a:graphicData uri="http://schemas.openxmlformats.org/drawingml/2006/table">
            <a:tbl>
              <a:tblPr/>
              <a:tblGrid>
                <a:gridCol w="3852898">
                  <a:extLst>
                    <a:ext uri="{9D8B030D-6E8A-4147-A177-3AD203B41FA5}">
                      <a16:colId xmlns:a16="http://schemas.microsoft.com/office/drawing/2014/main" val="914607660"/>
                    </a:ext>
                  </a:extLst>
                </a:gridCol>
                <a:gridCol w="3852898">
                  <a:extLst>
                    <a:ext uri="{9D8B030D-6E8A-4147-A177-3AD203B41FA5}">
                      <a16:colId xmlns:a16="http://schemas.microsoft.com/office/drawing/2014/main" val="3453940402"/>
                    </a:ext>
                  </a:extLst>
                </a:gridCol>
                <a:gridCol w="3852898">
                  <a:extLst>
                    <a:ext uri="{9D8B030D-6E8A-4147-A177-3AD203B41FA5}">
                      <a16:colId xmlns:a16="http://schemas.microsoft.com/office/drawing/2014/main" val="2791974681"/>
                    </a:ext>
                  </a:extLst>
                </a:gridCol>
              </a:tblGrid>
              <a:tr h="1004245">
                <a:tc>
                  <a:txBody>
                    <a:bodyPr/>
                    <a:lstStyle/>
                    <a:p>
                      <a:pPr>
                        <a:buNone/>
                      </a:pPr>
                      <a:r>
                        <a:rPr lang="en-IN" sz="1600" i="0" dirty="0">
                          <a:latin typeface="Times New Roman" panose="02020603050405020304" pitchFamily="18" charset="0"/>
                          <a:cs typeface="Times New Roman" panose="02020603050405020304" pitchFamily="18" charset="0"/>
                        </a:rPr>
                        <a:t>              Priya Sharma, Neha Gupta</a:t>
                      </a:r>
                    </a:p>
                  </a:txBody>
                  <a:tcPr anchor="ctr">
                    <a:lnL>
                      <a:noFill/>
                    </a:lnL>
                    <a:lnR>
                      <a:noFill/>
                    </a:lnR>
                    <a:lnT>
                      <a:noFill/>
                    </a:lnT>
                    <a:lnB>
                      <a:noFill/>
                    </a:lnB>
                    <a:noFill/>
                  </a:tcPr>
                </a:tc>
                <a:tc>
                  <a:txBody>
                    <a:bodyPr/>
                    <a:lstStyle/>
                    <a:p>
                      <a:pPr>
                        <a:buNone/>
                      </a:pPr>
                      <a:r>
                        <a:rPr lang="en-US" sz="1600" i="0" dirty="0">
                          <a:latin typeface="Times New Roman" panose="02020603050405020304" pitchFamily="18" charset="0"/>
                          <a:cs typeface="Times New Roman" panose="02020603050405020304" pitchFamily="18" charset="0"/>
                        </a:rPr>
                        <a:t>Smart Earthquake Detection Using IoT-2019</a:t>
                      </a:r>
                    </a:p>
                  </a:txBody>
                  <a:tcPr anchor="ctr">
                    <a:lnL>
                      <a:noFill/>
                    </a:lnL>
                    <a:lnR>
                      <a:noFill/>
                    </a:lnR>
                    <a:lnT>
                      <a:noFill/>
                    </a:lnT>
                    <a:lnB>
                      <a:noFill/>
                    </a:lnB>
                    <a:noFill/>
                  </a:tcPr>
                </a:tc>
                <a:tc>
                  <a:txBody>
                    <a:bodyPr/>
                    <a:lstStyle/>
                    <a:p>
                      <a:pPr>
                        <a:buNone/>
                      </a:pPr>
                      <a:r>
                        <a:rPr lang="en-US" sz="1600" dirty="0">
                          <a:latin typeface="Times New Roman" panose="02020603050405020304" pitchFamily="18" charset="0"/>
                          <a:cs typeface="Times New Roman" panose="02020603050405020304" pitchFamily="18" charset="0"/>
                        </a:rPr>
                        <a:t>Developed an IoT-based earthquake detection system using gyroscope and vibration sensors with mobile application alerts.</a:t>
                      </a:r>
                    </a:p>
                  </a:txBody>
                  <a:tcPr anchor="ctr">
                    <a:lnL>
                      <a:noFill/>
                    </a:lnL>
                    <a:lnR>
                      <a:noFill/>
                    </a:lnR>
                    <a:lnT>
                      <a:noFill/>
                    </a:lnT>
                    <a:lnB>
                      <a:noFill/>
                    </a:lnB>
                    <a:noFill/>
                  </a:tcPr>
                </a:tc>
                <a:extLst>
                  <a:ext uri="{0D108BD9-81ED-4DB2-BD59-A6C34878D82A}">
                    <a16:rowId xmlns:a16="http://schemas.microsoft.com/office/drawing/2014/main" val="2238304790"/>
                  </a:ext>
                </a:extLst>
              </a:tr>
            </a:tbl>
          </a:graphicData>
        </a:graphic>
      </p:graphicFrame>
    </p:spTree>
    <p:extLst>
      <p:ext uri="{BB962C8B-B14F-4D97-AF65-F5344CB8AC3E}">
        <p14:creationId xmlns:p14="http://schemas.microsoft.com/office/powerpoint/2010/main" val="514312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A7490-80C3-B4A0-B230-D63FFB2E840D}"/>
              </a:ext>
            </a:extLst>
          </p:cNvPr>
          <p:cNvSpPr>
            <a:spLocks noGrp="1"/>
          </p:cNvSpPr>
          <p:nvPr>
            <p:ph type="title"/>
          </p:nvPr>
        </p:nvSpPr>
        <p:spPr>
          <a:xfrm>
            <a:off x="452966" y="429472"/>
            <a:ext cx="8983133" cy="744008"/>
          </a:xfrm>
        </p:spPr>
        <p:txBody>
          <a:bodyPr>
            <a:normAutofit/>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Objectives:</a:t>
            </a:r>
            <a:endParaRPr lang="en-IN" b="1" u="sng"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32FB582-C26F-5E75-1590-A68A586C9B23}"/>
              </a:ext>
            </a:extLst>
          </p:cNvPr>
          <p:cNvSpPr>
            <a:spLocks noGrp="1" noChangeArrowheads="1"/>
          </p:cNvSpPr>
          <p:nvPr>
            <p:ph idx="1"/>
          </p:nvPr>
        </p:nvSpPr>
        <p:spPr bwMode="auto">
          <a:xfrm>
            <a:off x="778668" y="1595490"/>
            <a:ext cx="1063466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and develop a real-time monitoring and alert system using the ESP32 microcontroller.</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early detection of abnormal environmental conditions during natural disasters such as earthquakes and extreme temperature events.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 environmental temperature using DHT11 and detect abnormal vibrations/tilts using a gyroscope sensor.</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immediate local alerts through a buzzer and send remote notifications via the Blynk IoT application.</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timely disaster alerts, rapid evacuation, and precautionary measures through a cost-effective and reliable system suitable for smart buildings, industrial setups, and disaster-prone regions</a:t>
            </a:r>
          </a:p>
        </p:txBody>
      </p:sp>
    </p:spTree>
    <p:extLst>
      <p:ext uri="{BB962C8B-B14F-4D97-AF65-F5344CB8AC3E}">
        <p14:creationId xmlns:p14="http://schemas.microsoft.com/office/powerpoint/2010/main" val="2312029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BDCE9-BA8B-7727-49AF-B5FAEBAE9C66}"/>
              </a:ext>
            </a:extLst>
          </p:cNvPr>
          <p:cNvSpPr>
            <a:spLocks noGrp="1"/>
          </p:cNvSpPr>
          <p:nvPr>
            <p:ph type="title"/>
          </p:nvPr>
        </p:nvSpPr>
        <p:spPr>
          <a:xfrm>
            <a:off x="611293" y="355349"/>
            <a:ext cx="8596668" cy="1320800"/>
          </a:xfrm>
        </p:spPr>
        <p:txBody>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Methodology:</a:t>
            </a:r>
            <a:endParaRPr lang="en-IN" b="1" u="sng"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E596B7FF-0700-BCC8-1DF4-3108667C64C4}"/>
              </a:ext>
            </a:extLst>
          </p:cNvPr>
          <p:cNvSpPr>
            <a:spLocks noChangeArrowheads="1"/>
          </p:cNvSpPr>
          <p:nvPr/>
        </p:nvSpPr>
        <p:spPr bwMode="auto">
          <a:xfrm>
            <a:off x="670560" y="1676149"/>
            <a:ext cx="1091014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defTabSz="914400" eaLnBrk="0" fontAlgn="base" hangingPunct="0">
              <a:spcBef>
                <a:spcPct val="0"/>
              </a:spcBef>
              <a:spcAft>
                <a:spcPct val="0"/>
              </a:spcAft>
              <a:buFont typeface="Wingdings" panose="05000000000000000000" pitchFamily="2" charset="2"/>
              <a:buChar char="Ø"/>
            </a:pPr>
            <a:r>
              <a:rPr lang="en-US" altLang="en-US" sz="2000" b="1" dirty="0">
                <a:solidFill>
                  <a:schemeClr val="accent2"/>
                </a:solidFill>
                <a:latin typeface="Times New Roman" panose="02020603050405020304" pitchFamily="18" charset="0"/>
                <a:cs typeface="Times New Roman" panose="02020603050405020304" pitchFamily="18" charset="0"/>
              </a:rPr>
              <a:t>Hardware Integration:</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The system is built using ESP32 as the central control unit. DHT11 continuously measures environmental temperature, while the gyroscope sensor detects abnormal vibrations or tilts indicating possible seismic activity. A buzzer is connected for local alerts, and ESP32 is configured to communicate with the Blynk platform.</a:t>
            </a:r>
          </a:p>
          <a:p>
            <a:pPr marL="342900" lvl="0" indent="-342900" defTabSz="914400" eaLnBrk="0" fontAlgn="base" hangingPunct="0">
              <a:spcBef>
                <a:spcPct val="0"/>
              </a:spcBef>
              <a:spcAft>
                <a:spcPct val="0"/>
              </a:spcAft>
              <a:buFont typeface="Wingdings" panose="05000000000000000000" pitchFamily="2" charset="2"/>
              <a:buChar char="Ø"/>
            </a:pPr>
            <a:r>
              <a:rPr lang="en-US" altLang="en-US" sz="2000" b="1" dirty="0">
                <a:solidFill>
                  <a:schemeClr val="accent2"/>
                </a:solidFill>
                <a:latin typeface="Times New Roman" panose="02020603050405020304" pitchFamily="18" charset="0"/>
                <a:cs typeface="Times New Roman" panose="02020603050405020304" pitchFamily="18" charset="0"/>
              </a:rPr>
              <a:t>Data Acquisition &amp; Processing:</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Sensor data is continuously monitored and processed by the ESP32. The readings are compared with predefined safety threshold values.</a:t>
            </a:r>
          </a:p>
          <a:p>
            <a:pPr marL="342900" lvl="0" indent="-342900" defTabSz="914400" eaLnBrk="0" fontAlgn="base" hangingPunct="0">
              <a:spcBef>
                <a:spcPct val="0"/>
              </a:spcBef>
              <a:spcAft>
                <a:spcPct val="0"/>
              </a:spcAft>
              <a:buFont typeface="Wingdings" panose="05000000000000000000" pitchFamily="2" charset="2"/>
              <a:buChar char="Ø"/>
            </a:pPr>
            <a:r>
              <a:rPr lang="en-US" altLang="en-US" sz="2000" b="1" dirty="0">
                <a:solidFill>
                  <a:schemeClr val="accent2"/>
                </a:solidFill>
                <a:latin typeface="Times New Roman" panose="02020603050405020304" pitchFamily="18" charset="0"/>
                <a:cs typeface="Times New Roman" panose="02020603050405020304" pitchFamily="18" charset="0"/>
              </a:rPr>
              <a:t>Alert &amp; Remote Monitoring:</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If temperature exceeds the safe limit or abnormal seismic activity is detected, the buzzer is activated and an alert notification is sent to the user’s mobile device via the Blynk cloud using Wi-Fi.</a:t>
            </a:r>
          </a:p>
          <a:p>
            <a:pPr marL="342900" lvl="0" indent="-342900" defTabSz="914400" eaLnBrk="0" fontAlgn="base" hangingPunct="0">
              <a:spcBef>
                <a:spcPct val="0"/>
              </a:spcBef>
              <a:spcAft>
                <a:spcPct val="0"/>
              </a:spcAft>
              <a:buFont typeface="Wingdings" panose="05000000000000000000" pitchFamily="2" charset="2"/>
              <a:buChar char="Ø"/>
            </a:pPr>
            <a:r>
              <a:rPr lang="en-US" altLang="en-US" sz="2000" b="1" dirty="0">
                <a:solidFill>
                  <a:schemeClr val="accent2"/>
                </a:solidFill>
                <a:latin typeface="Times New Roman" panose="02020603050405020304" pitchFamily="18" charset="0"/>
                <a:cs typeface="Times New Roman" panose="02020603050405020304" pitchFamily="18" charset="0"/>
              </a:rPr>
              <a:t>Testing &amp; Calibration:</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The system is tested under simulated high-temperature and vibration conditions. Threshold values are calibrated to minimize false alarms while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ensuring reliable early detection.</a:t>
            </a:r>
          </a:p>
        </p:txBody>
      </p:sp>
    </p:spTree>
    <p:extLst>
      <p:ext uri="{BB962C8B-B14F-4D97-AF65-F5344CB8AC3E}">
        <p14:creationId xmlns:p14="http://schemas.microsoft.com/office/powerpoint/2010/main" val="4014829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395CA-FED8-1B45-1C66-7F8238BFA794}"/>
              </a:ext>
            </a:extLst>
          </p:cNvPr>
          <p:cNvSpPr>
            <a:spLocks noGrp="1"/>
          </p:cNvSpPr>
          <p:nvPr>
            <p:ph type="title"/>
          </p:nvPr>
        </p:nvSpPr>
        <p:spPr>
          <a:xfrm>
            <a:off x="529098" y="372718"/>
            <a:ext cx="9505176" cy="1162444"/>
          </a:xfrm>
        </p:spPr>
        <p:txBody>
          <a:bodyPr>
            <a:noAutofit/>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Analysis and Design :</a:t>
            </a:r>
            <a:br>
              <a:rPr lang="en-US" b="1" u="sng" dirty="0">
                <a:solidFill>
                  <a:schemeClr val="accent5">
                    <a:lumMod val="75000"/>
                  </a:schemeClr>
                </a:solidFill>
              </a:rPr>
            </a:br>
            <a:endParaRPr lang="en-IN" b="1" u="sng" dirty="0">
              <a:solidFill>
                <a:schemeClr val="accent5">
                  <a:lumMod val="75000"/>
                </a:schemeClr>
              </a:solidFill>
            </a:endParaRPr>
          </a:p>
        </p:txBody>
      </p:sp>
      <p:grpSp>
        <p:nvGrpSpPr>
          <p:cNvPr id="4" name="Canvas 1">
            <a:extLst>
              <a:ext uri="{FF2B5EF4-FFF2-40B4-BE49-F238E27FC236}">
                <a16:creationId xmlns:a16="http://schemas.microsoft.com/office/drawing/2014/main" id="{B6834912-90A2-5FFA-B442-95EBBEE8B3D1}"/>
              </a:ext>
            </a:extLst>
          </p:cNvPr>
          <p:cNvGrpSpPr/>
          <p:nvPr/>
        </p:nvGrpSpPr>
        <p:grpSpPr>
          <a:xfrm>
            <a:off x="2490695" y="800538"/>
            <a:ext cx="7783315" cy="3096576"/>
            <a:chOff x="180000" y="-487202"/>
            <a:chExt cx="5723546" cy="2586346"/>
          </a:xfrm>
        </p:grpSpPr>
        <p:sp>
          <p:nvSpPr>
            <p:cNvPr id="5" name="Rectangle 4">
              <a:extLst>
                <a:ext uri="{FF2B5EF4-FFF2-40B4-BE49-F238E27FC236}">
                  <a16:creationId xmlns:a16="http://schemas.microsoft.com/office/drawing/2014/main" id="{0D624B5C-1A53-38F7-C16D-AC6D557F6256}"/>
                </a:ext>
              </a:extLst>
            </p:cNvPr>
            <p:cNvSpPr/>
            <p:nvPr/>
          </p:nvSpPr>
          <p:spPr>
            <a:xfrm>
              <a:off x="417146" y="-487202"/>
              <a:ext cx="5486400" cy="2333625"/>
            </a:xfrm>
            <a:prstGeom prst="rect">
              <a:avLst/>
            </a:prstGeom>
          </p:spPr>
        </p:sp>
        <p:sp>
          <p:nvSpPr>
            <p:cNvPr id="6" name="Rectangle 5">
              <a:extLst>
                <a:ext uri="{FF2B5EF4-FFF2-40B4-BE49-F238E27FC236}">
                  <a16:creationId xmlns:a16="http://schemas.microsoft.com/office/drawing/2014/main" id="{51C76310-7E7F-70CA-B7AB-BB80BE12E47A}"/>
                </a:ext>
              </a:extLst>
            </p:cNvPr>
            <p:cNvSpPr/>
            <p:nvPr/>
          </p:nvSpPr>
          <p:spPr>
            <a:xfrm>
              <a:off x="1789725" y="180000"/>
              <a:ext cx="1419225" cy="19191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buNone/>
              </a:pPr>
              <a:r>
                <a:rPr lang="en-US" sz="1100" dirty="0">
                  <a:effectLst/>
                  <a:latin typeface="Times New Roman" panose="02020603050405020304" pitchFamily="18" charset="0"/>
                  <a:ea typeface="Calibri" panose="020F0502020204030204" pitchFamily="34" charset="0"/>
                </a:rPr>
                <a:t>ESP 32</a:t>
              </a:r>
              <a:endParaRPr lang="en-IN" sz="1200" dirty="0">
                <a:effectLst/>
                <a:latin typeface="Times New Roman" panose="02020603050405020304" pitchFamily="18" charset="0"/>
                <a:ea typeface="Times New Roman" panose="02020603050405020304" pitchFamily="18" charset="0"/>
              </a:endParaRPr>
            </a:p>
            <a:p>
              <a:pPr algn="ctr">
                <a:lnSpc>
                  <a:spcPct val="105000"/>
                </a:lnSpc>
                <a:spcAft>
                  <a:spcPts val="800"/>
                </a:spcAft>
                <a:buNone/>
              </a:pPr>
              <a:r>
                <a:rPr lang="en-US" sz="1100" dirty="0">
                  <a:effectLst/>
                  <a:latin typeface="Times New Roman" panose="02020603050405020304" pitchFamily="18" charset="0"/>
                  <a:ea typeface="Calibri" panose="020F0502020204030204" pitchFamily="34" charset="0"/>
                </a:rPr>
                <a:t>Micro Controller</a:t>
              </a:r>
              <a:endParaRPr lang="en-IN" sz="1200" dirty="0">
                <a:effectLst/>
                <a:latin typeface="Times New Roman" panose="02020603050405020304" pitchFamily="18" charset="0"/>
                <a:ea typeface="Times New Roman" panose="02020603050405020304" pitchFamily="18" charset="0"/>
              </a:endParaRPr>
            </a:p>
          </p:txBody>
        </p:sp>
        <p:sp>
          <p:nvSpPr>
            <p:cNvPr id="7" name="Rectangle 6">
              <a:extLst>
                <a:ext uri="{FF2B5EF4-FFF2-40B4-BE49-F238E27FC236}">
                  <a16:creationId xmlns:a16="http://schemas.microsoft.com/office/drawing/2014/main" id="{EC5CE058-9BAB-8B6D-AF65-8D1D40441D7A}"/>
                </a:ext>
              </a:extLst>
            </p:cNvPr>
            <p:cNvSpPr/>
            <p:nvPr/>
          </p:nvSpPr>
          <p:spPr>
            <a:xfrm>
              <a:off x="3512480" y="264455"/>
              <a:ext cx="1295400"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buNone/>
              </a:pPr>
              <a:r>
                <a:rPr lang="en-US" sz="1100">
                  <a:effectLst/>
                  <a:latin typeface="Times New Roman" panose="02020603050405020304" pitchFamily="18" charset="0"/>
                  <a:ea typeface="Calibri" panose="020F0502020204030204" pitchFamily="34" charset="0"/>
                </a:rPr>
                <a:t>LCD Display</a:t>
              </a:r>
              <a:endParaRPr lang="en-IN" sz="1200">
                <a:effectLst/>
                <a:latin typeface="Times New Roman" panose="02020603050405020304" pitchFamily="18" charset="0"/>
                <a:ea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F537F715-102F-BECD-0EFF-C588A0670705}"/>
                </a:ext>
              </a:extLst>
            </p:cNvPr>
            <p:cNvCxnSpPr/>
            <p:nvPr/>
          </p:nvCxnSpPr>
          <p:spPr>
            <a:xfrm>
              <a:off x="3218475" y="475275"/>
              <a:ext cx="294005"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769F48D-53B1-7E7B-F2FA-8C2665FB5074}"/>
                </a:ext>
              </a:extLst>
            </p:cNvPr>
            <p:cNvSpPr/>
            <p:nvPr/>
          </p:nvSpPr>
          <p:spPr>
            <a:xfrm>
              <a:off x="3512480" y="826430"/>
              <a:ext cx="1295400"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buNone/>
              </a:pPr>
              <a:r>
                <a:rPr lang="en-US" sz="1100">
                  <a:effectLst/>
                  <a:latin typeface="Times New Roman" panose="02020603050405020304" pitchFamily="18" charset="0"/>
                  <a:ea typeface="Calibri" panose="020F0502020204030204" pitchFamily="34" charset="0"/>
                </a:rPr>
                <a:t>Buzzer</a:t>
              </a:r>
              <a:endParaRPr lang="en-IN" sz="1200">
                <a:effectLst/>
                <a:latin typeface="Times New Roman" panose="02020603050405020304" pitchFamily="18" charset="0"/>
                <a:ea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B28C0B39-B88D-4071-A2F7-592FDC184C86}"/>
                </a:ext>
              </a:extLst>
            </p:cNvPr>
            <p:cNvCxnSpPr/>
            <p:nvPr/>
          </p:nvCxnSpPr>
          <p:spPr>
            <a:xfrm>
              <a:off x="3218475" y="1037250"/>
              <a:ext cx="294005"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21FEBA5-1F19-9CD4-BA5B-DCE5635BCA4D}"/>
                </a:ext>
              </a:extLst>
            </p:cNvPr>
            <p:cNvSpPr/>
            <p:nvPr/>
          </p:nvSpPr>
          <p:spPr>
            <a:xfrm>
              <a:off x="180000" y="225085"/>
              <a:ext cx="1295400"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buNone/>
              </a:pPr>
              <a:r>
                <a:rPr lang="en-US" sz="1100" dirty="0">
                  <a:effectLst/>
                  <a:latin typeface="Times New Roman" panose="02020603050405020304" pitchFamily="18" charset="0"/>
                  <a:ea typeface="Calibri" panose="020F0502020204030204" pitchFamily="34" charset="0"/>
                </a:rPr>
                <a:t>DHT11 Sensor</a:t>
              </a:r>
              <a:endParaRPr lang="en-IN" sz="1200" dirty="0">
                <a:effectLst/>
                <a:latin typeface="Times New Roman" panose="02020603050405020304" pitchFamily="18" charset="0"/>
                <a:ea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41891737-B1DE-0DCD-5CC8-DD6E3E55720A}"/>
                </a:ext>
              </a:extLst>
            </p:cNvPr>
            <p:cNvCxnSpPr/>
            <p:nvPr/>
          </p:nvCxnSpPr>
          <p:spPr>
            <a:xfrm>
              <a:off x="1484925" y="456225"/>
              <a:ext cx="294005"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E0D0400-0066-45F8-EF12-7F151F9B9718}"/>
                </a:ext>
              </a:extLst>
            </p:cNvPr>
            <p:cNvSpPr/>
            <p:nvPr/>
          </p:nvSpPr>
          <p:spPr>
            <a:xfrm>
              <a:off x="180000" y="789600"/>
              <a:ext cx="1295400"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buNone/>
              </a:pPr>
              <a:r>
                <a:rPr lang="en-US" sz="1100">
                  <a:effectLst/>
                  <a:latin typeface="Times New Roman" panose="02020603050405020304" pitchFamily="18" charset="0"/>
                  <a:ea typeface="Calibri" panose="020F0502020204030204" pitchFamily="34" charset="0"/>
                </a:rPr>
                <a:t>Gyro Sensor</a:t>
              </a:r>
              <a:endParaRPr lang="en-IN" sz="1200">
                <a:effectLst/>
                <a:latin typeface="Times New Roman" panose="02020603050405020304" pitchFamily="18" charset="0"/>
                <a:ea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9B938F69-3546-F336-D777-32B1FA9255BA}"/>
                </a:ext>
              </a:extLst>
            </p:cNvPr>
            <p:cNvCxnSpPr/>
            <p:nvPr/>
          </p:nvCxnSpPr>
          <p:spPr>
            <a:xfrm>
              <a:off x="1484925" y="1020740"/>
              <a:ext cx="294005"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BE6BD16-5BB0-6AAE-97D3-E5836D804962}"/>
                </a:ext>
              </a:extLst>
            </p:cNvPr>
            <p:cNvSpPr/>
            <p:nvPr/>
          </p:nvSpPr>
          <p:spPr>
            <a:xfrm>
              <a:off x="180000" y="1388598"/>
              <a:ext cx="1295400"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buNone/>
              </a:pPr>
              <a:r>
                <a:rPr lang="en-US" sz="1100">
                  <a:effectLst/>
                  <a:latin typeface="Times New Roman" panose="02020603050405020304" pitchFamily="18" charset="0"/>
                  <a:ea typeface="Calibri" panose="020F0502020204030204" pitchFamily="34" charset="0"/>
                </a:rPr>
                <a:t>Fire Sensor</a:t>
              </a:r>
              <a:endParaRPr lang="en-IN" sz="1200">
                <a:effectLst/>
                <a:latin typeface="Times New Roman" panose="02020603050405020304" pitchFamily="18" charset="0"/>
                <a:ea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id="{DB0CF1E3-31DF-376D-015C-B740D1414BBF}"/>
                </a:ext>
              </a:extLst>
            </p:cNvPr>
            <p:cNvCxnSpPr/>
            <p:nvPr/>
          </p:nvCxnSpPr>
          <p:spPr>
            <a:xfrm>
              <a:off x="1484925" y="1619738"/>
              <a:ext cx="294005"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98CFE76E-22DB-66CD-5208-661D50BF3519}"/>
              </a:ext>
            </a:extLst>
          </p:cNvPr>
          <p:cNvSpPr txBox="1"/>
          <p:nvPr/>
        </p:nvSpPr>
        <p:spPr>
          <a:xfrm>
            <a:off x="529098" y="4334368"/>
            <a:ext cx="9075488" cy="2215991"/>
          </a:xfrm>
          <a:prstGeom prst="rect">
            <a:avLst/>
          </a:prstGeom>
          <a:noFill/>
        </p:spPr>
        <p:txBody>
          <a:bodyPr wrap="square">
            <a:spAutoFit/>
          </a:bodyPr>
          <a:lstStyle/>
          <a:p>
            <a:r>
              <a:rPr lang="en-IN" b="1" dirty="0">
                <a:solidFill>
                  <a:schemeClr val="accent2"/>
                </a:solidFill>
              </a:rPr>
              <a:t>How it works</a:t>
            </a:r>
          </a:p>
          <a:p>
            <a:pPr algn="just">
              <a:buFont typeface="+mj-lt"/>
              <a:buAutoNum type="arabicPeriod"/>
            </a:pPr>
            <a:r>
              <a:rPr lang="en-IN" sz="2000" dirty="0">
                <a:latin typeface="Times New Roman" panose="02020603050405020304" pitchFamily="18" charset="0"/>
                <a:cs typeface="Times New Roman" panose="02020603050405020304" pitchFamily="18" charset="0"/>
              </a:rPr>
              <a:t>Sensors collect environmental data.</a:t>
            </a:r>
          </a:p>
          <a:p>
            <a:pPr algn="just">
              <a:buFont typeface="+mj-lt"/>
              <a:buAutoNum type="arabicPeriod"/>
            </a:pPr>
            <a:r>
              <a:rPr lang="en-IN" sz="2000" dirty="0">
                <a:latin typeface="Times New Roman" panose="02020603050405020304" pitchFamily="18" charset="0"/>
                <a:cs typeface="Times New Roman" panose="02020603050405020304" pitchFamily="18" charset="0"/>
              </a:rPr>
              <a:t>ESP32 processes and compares values.</a:t>
            </a:r>
          </a:p>
          <a:p>
            <a:pPr algn="just">
              <a:buFont typeface="+mj-lt"/>
              <a:buAutoNum type="arabicPeriod"/>
            </a:pPr>
            <a:r>
              <a:rPr lang="en-IN" sz="2000" dirty="0">
                <a:latin typeface="Times New Roman" panose="02020603050405020304" pitchFamily="18" charset="0"/>
                <a:cs typeface="Times New Roman" panose="02020603050405020304" pitchFamily="18" charset="0"/>
              </a:rPr>
              <a:t>If threshold exceeded:</a:t>
            </a:r>
          </a:p>
          <a:p>
            <a:pPr marL="742950" lvl="1" indent="-285750" algn="just">
              <a:buFont typeface="+mj-lt"/>
              <a:buAutoNum type="arabicPeriod"/>
            </a:pPr>
            <a:r>
              <a:rPr lang="en-IN" sz="2000" dirty="0">
                <a:latin typeface="Times New Roman" panose="02020603050405020304" pitchFamily="18" charset="0"/>
                <a:cs typeface="Times New Roman" panose="02020603050405020304" pitchFamily="18" charset="0"/>
              </a:rPr>
              <a:t>Buzzer activated</a:t>
            </a:r>
          </a:p>
          <a:p>
            <a:pPr marL="742950" lvl="1" indent="-285750" algn="just">
              <a:buFont typeface="+mj-lt"/>
              <a:buAutoNum type="arabicPeriod"/>
            </a:pPr>
            <a:r>
              <a:rPr lang="en-IN" sz="2000" dirty="0">
                <a:latin typeface="Times New Roman" panose="02020603050405020304" pitchFamily="18" charset="0"/>
                <a:cs typeface="Times New Roman" panose="02020603050405020304" pitchFamily="18" charset="0"/>
              </a:rPr>
              <a:t>Alert sent via Blynk app</a:t>
            </a:r>
          </a:p>
          <a:p>
            <a:pPr algn="just">
              <a:buNone/>
            </a:pPr>
            <a:r>
              <a:rPr lang="en-IN" sz="2000" dirty="0">
                <a:latin typeface="Times New Roman" panose="02020603050405020304" pitchFamily="18" charset="0"/>
                <a:cs typeface="Times New Roman" panose="02020603050405020304" pitchFamily="18" charset="0"/>
              </a:rPr>
              <a:t>Block diagram includes ESP32 connected to sensors, LCD, buzzer, and Wi-Fi cloud.</a:t>
            </a:r>
          </a:p>
        </p:txBody>
      </p:sp>
    </p:spTree>
    <p:extLst>
      <p:ext uri="{BB962C8B-B14F-4D97-AF65-F5344CB8AC3E}">
        <p14:creationId xmlns:p14="http://schemas.microsoft.com/office/powerpoint/2010/main" val="3923552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B66C6-578E-169E-CA58-1B7224750024}"/>
              </a:ext>
            </a:extLst>
          </p:cNvPr>
          <p:cNvSpPr>
            <a:spLocks noGrp="1"/>
          </p:cNvSpPr>
          <p:nvPr>
            <p:ph type="title"/>
          </p:nvPr>
        </p:nvSpPr>
        <p:spPr/>
        <p:txBody>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Future Scope:</a:t>
            </a:r>
            <a:endParaRPr lang="en-IN" b="1" u="sng"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65C19B-D51F-1BF0-7770-0BCE198D6198}"/>
              </a:ext>
            </a:extLst>
          </p:cNvPr>
          <p:cNvSpPr>
            <a:spLocks noGrp="1"/>
          </p:cNvSpPr>
          <p:nvPr>
            <p:ph idx="1"/>
          </p:nvPr>
        </p:nvSpPr>
        <p:spPr>
          <a:xfrm>
            <a:off x="838200" y="1825625"/>
            <a:ext cx="9635067" cy="4351338"/>
          </a:xfrm>
        </p:spPr>
        <p:txBody>
          <a:bodyPr>
            <a:normAutofit/>
          </a:bodyPr>
          <a:lstStyle/>
          <a:p>
            <a:pPr algn="just"/>
            <a:r>
              <a:rPr lang="en-US" sz="2000" dirty="0">
                <a:latin typeface="Times New Roman" panose="02020603050405020304" pitchFamily="18" charset="0"/>
                <a:cs typeface="Times New Roman" panose="02020603050405020304" pitchFamily="18" charset="0"/>
              </a:rPr>
              <a:t>Integration of additional sensors (gas, smoke, humidity, flood detection) for multi-disaster monitoring</a:t>
            </a:r>
          </a:p>
          <a:p>
            <a:pPr algn="just"/>
            <a:r>
              <a:rPr lang="en-US" sz="2000" dirty="0">
                <a:latin typeface="Times New Roman" panose="02020603050405020304" pitchFamily="18" charset="0"/>
                <a:cs typeface="Times New Roman" panose="02020603050405020304" pitchFamily="18" charset="0"/>
              </a:rPr>
              <a:t>Use of AI/ML algorithms for better prediction and reduced false alarms</a:t>
            </a:r>
          </a:p>
          <a:p>
            <a:pPr algn="just"/>
            <a:r>
              <a:rPr lang="en-US" sz="2000" dirty="0">
                <a:latin typeface="Times New Roman" panose="02020603050405020304" pitchFamily="18" charset="0"/>
                <a:cs typeface="Times New Roman" panose="02020603050405020304" pitchFamily="18" charset="0"/>
              </a:rPr>
              <a:t>Implementation of solar power for uninterrupted operation during power failures</a:t>
            </a:r>
          </a:p>
          <a:p>
            <a:pPr algn="just"/>
            <a:r>
              <a:rPr lang="en-US" sz="2000" dirty="0">
                <a:latin typeface="Times New Roman" panose="02020603050405020304" pitchFamily="18" charset="0"/>
                <a:cs typeface="Times New Roman" panose="02020603050405020304" pitchFamily="18" charset="0"/>
              </a:rPr>
              <a:t>Expansion to large-scale networks for city-wide disaster monitoring</a:t>
            </a:r>
          </a:p>
          <a:p>
            <a:pPr algn="just"/>
            <a:r>
              <a:rPr lang="en-US" sz="2000" dirty="0">
                <a:latin typeface="Times New Roman" panose="02020603050405020304" pitchFamily="18" charset="0"/>
                <a:cs typeface="Times New Roman" panose="02020603050405020304" pitchFamily="18" charset="0"/>
              </a:rPr>
              <a:t>Integration with government emergency systems for faster response</a:t>
            </a:r>
          </a:p>
          <a:p>
            <a:pPr algn="just"/>
            <a:r>
              <a:rPr lang="en-US" sz="2000" dirty="0">
                <a:latin typeface="Times New Roman" panose="02020603050405020304" pitchFamily="18" charset="0"/>
                <a:cs typeface="Times New Roman" panose="02020603050405020304" pitchFamily="18" charset="0"/>
              </a:rPr>
              <a:t>Development of a dedicated mobile app with advanced features and analytics</a:t>
            </a:r>
          </a:p>
          <a:p>
            <a:pPr algn="just"/>
            <a:r>
              <a:rPr lang="en-US" sz="2000" dirty="0">
                <a:latin typeface="Times New Roman" panose="02020603050405020304" pitchFamily="18" charset="0"/>
                <a:cs typeface="Times New Roman" panose="02020603050405020304" pitchFamily="18" charset="0"/>
              </a:rPr>
              <a:t>Use of GPS module for location-based alerts and tracking</a:t>
            </a:r>
          </a:p>
          <a:p>
            <a:pPr algn="just"/>
            <a:r>
              <a:rPr lang="en-US" sz="2000" dirty="0">
                <a:latin typeface="Times New Roman" panose="02020603050405020304" pitchFamily="18" charset="0"/>
                <a:cs typeface="Times New Roman" panose="02020603050405020304" pitchFamily="18" charset="0"/>
              </a:rPr>
              <a:t>Enhancement of data storage and analytics using cloud platforms</a:t>
            </a:r>
          </a:p>
          <a:p>
            <a:pPr algn="just"/>
            <a:r>
              <a:rPr lang="en-US" sz="2000" dirty="0">
                <a:latin typeface="Times New Roman" panose="02020603050405020304" pitchFamily="18" charset="0"/>
                <a:cs typeface="Times New Roman" panose="02020603050405020304" pitchFamily="18" charset="0"/>
              </a:rPr>
              <a:t>Improving system with edge computing for faster local decision-making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0533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1B1D9-090A-8167-03D2-52ABCF0DBE75}"/>
              </a:ext>
            </a:extLst>
          </p:cNvPr>
          <p:cNvSpPr>
            <a:spLocks noGrp="1"/>
          </p:cNvSpPr>
          <p:nvPr>
            <p:ph type="title"/>
          </p:nvPr>
        </p:nvSpPr>
        <p:spPr>
          <a:xfrm>
            <a:off x="127000" y="170392"/>
            <a:ext cx="10515600" cy="1325563"/>
          </a:xfrm>
        </p:spPr>
        <p:txBody>
          <a:bodyPr>
            <a:normAutofit/>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Implementation:</a:t>
            </a:r>
            <a:endParaRPr lang="en-IN" b="1" u="sng"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F4E10B-DB1E-27FF-E28D-7E56CC082425}"/>
              </a:ext>
            </a:extLst>
          </p:cNvPr>
          <p:cNvSpPr>
            <a:spLocks noGrp="1"/>
          </p:cNvSpPr>
          <p:nvPr>
            <p:ph idx="1"/>
          </p:nvPr>
        </p:nvSpPr>
        <p:spPr/>
        <p:txBody>
          <a:bodyPr>
            <a:normAutofit/>
          </a:bodyPr>
          <a:lstStyle/>
          <a:p>
            <a:pPr algn="just"/>
            <a:r>
              <a:rPr lang="en-IN" sz="2000" dirty="0">
                <a:latin typeface="Times New Roman" panose="02020603050405020304" pitchFamily="18" charset="0"/>
                <a:cs typeface="Times New Roman" panose="02020603050405020304" pitchFamily="18" charset="0"/>
              </a:rPr>
              <a:t>DHT11 measures environmental temperature</a:t>
            </a:r>
          </a:p>
          <a:p>
            <a:pPr algn="just"/>
            <a:r>
              <a:rPr lang="en-IN" sz="2000" dirty="0">
                <a:latin typeface="Times New Roman" panose="02020603050405020304" pitchFamily="18" charset="0"/>
                <a:cs typeface="Times New Roman" panose="02020603050405020304" pitchFamily="18" charset="0"/>
              </a:rPr>
              <a:t>Gyroscope detects vibrations/tilt (earthquake signals)</a:t>
            </a:r>
          </a:p>
          <a:p>
            <a:pPr algn="just"/>
            <a:r>
              <a:rPr lang="en-IN" sz="2000" dirty="0">
                <a:latin typeface="Times New Roman" panose="02020603050405020304" pitchFamily="18" charset="0"/>
                <a:cs typeface="Times New Roman" panose="02020603050405020304" pitchFamily="18" charset="0"/>
              </a:rPr>
              <a:t>ESP32 processes sensor data continuously</a:t>
            </a:r>
          </a:p>
          <a:p>
            <a:pPr algn="just"/>
            <a:r>
              <a:rPr lang="en-IN" sz="2000" dirty="0">
                <a:latin typeface="Times New Roman" panose="02020603050405020304" pitchFamily="18" charset="0"/>
                <a:cs typeface="Times New Roman" panose="02020603050405020304" pitchFamily="18" charset="0"/>
              </a:rPr>
              <a:t>Compared readings with predefined threshold values</a:t>
            </a:r>
          </a:p>
          <a:p>
            <a:pPr algn="just"/>
            <a:r>
              <a:rPr lang="en-IN" sz="2000" dirty="0">
                <a:latin typeface="Times New Roman" panose="02020603050405020304" pitchFamily="18" charset="0"/>
                <a:cs typeface="Times New Roman" panose="02020603050405020304" pitchFamily="18" charset="0"/>
              </a:rPr>
              <a:t>If abnormal condition detected:</a:t>
            </a:r>
          </a:p>
          <a:p>
            <a:pPr algn="just"/>
            <a:r>
              <a:rPr lang="en-IN" sz="2000" dirty="0">
                <a:latin typeface="Times New Roman" panose="02020603050405020304" pitchFamily="18" charset="0"/>
                <a:cs typeface="Times New Roman" panose="02020603050405020304" pitchFamily="18" charset="0"/>
              </a:rPr>
              <a:t>Buzzer activated (local alert)</a:t>
            </a:r>
          </a:p>
          <a:p>
            <a:pPr algn="just"/>
            <a:r>
              <a:rPr lang="en-IN" sz="2000" dirty="0">
                <a:latin typeface="Times New Roman" panose="02020603050405020304" pitchFamily="18" charset="0"/>
                <a:cs typeface="Times New Roman" panose="02020603050405020304" pitchFamily="18" charset="0"/>
              </a:rPr>
              <a:t>Notification sent via Blynk app</a:t>
            </a:r>
          </a:p>
          <a:p>
            <a:pPr algn="just"/>
            <a:r>
              <a:rPr lang="en-IN" sz="2000" dirty="0">
                <a:latin typeface="Times New Roman" panose="02020603050405020304" pitchFamily="18" charset="0"/>
                <a:cs typeface="Times New Roman" panose="02020603050405020304" pitchFamily="18" charset="0"/>
              </a:rPr>
              <a:t>Data updated in real-time using cloud connectivity</a:t>
            </a:r>
          </a:p>
        </p:txBody>
      </p:sp>
    </p:spTree>
    <p:extLst>
      <p:ext uri="{BB962C8B-B14F-4D97-AF65-F5344CB8AC3E}">
        <p14:creationId xmlns:p14="http://schemas.microsoft.com/office/powerpoint/2010/main" val="3165997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4E4AA-18B1-DA34-88F4-22F7ABC34139}"/>
              </a:ext>
            </a:extLst>
          </p:cNvPr>
          <p:cNvSpPr>
            <a:spLocks noGrp="1"/>
          </p:cNvSpPr>
          <p:nvPr>
            <p:ph type="title"/>
          </p:nvPr>
        </p:nvSpPr>
        <p:spPr>
          <a:xfrm>
            <a:off x="285490" y="342152"/>
            <a:ext cx="8911687" cy="789823"/>
          </a:xfrm>
        </p:spPr>
        <p:txBody>
          <a:bodyPr>
            <a:normAutofit/>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Testing and validation:</a:t>
            </a:r>
            <a:endParaRPr lang="en-IN" b="1" u="sng"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76A1CEB-A3D4-F917-0158-CADC001C7A59}"/>
              </a:ext>
            </a:extLst>
          </p:cNvPr>
          <p:cNvSpPr>
            <a:spLocks noGrp="1" noChangeArrowheads="1"/>
          </p:cNvSpPr>
          <p:nvPr>
            <p:ph idx="1"/>
          </p:nvPr>
        </p:nvSpPr>
        <p:spPr bwMode="auto">
          <a:xfrm>
            <a:off x="992455" y="1325301"/>
            <a:ext cx="9902288" cy="2496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buClrTx/>
              <a:buFont typeface="Wingdings" panose="05000000000000000000" pitchFamily="2" charset="2"/>
              <a:buChar char="Ø"/>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Tested under high-temperature conditions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Simulated vibration/tilt for earthquake detection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Verified buzzer activation for alerts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Checked real-time notifications on mobile app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Calibrated threshold values to reduce false alarms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Ensured stable Wi-Fi communication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performance validated for accuracy and reliability </a:t>
            </a:r>
          </a:p>
        </p:txBody>
      </p:sp>
      <p:sp>
        <p:nvSpPr>
          <p:cNvPr id="6" name="AutoShape 5">
            <a:extLst>
              <a:ext uri="{FF2B5EF4-FFF2-40B4-BE49-F238E27FC236}">
                <a16:creationId xmlns:a16="http://schemas.microsoft.com/office/drawing/2014/main" id="{1AFA6EA4-A2B1-EB93-1C0F-5D8E18432F4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7">
            <a:extLst>
              <a:ext uri="{FF2B5EF4-FFF2-40B4-BE49-F238E27FC236}">
                <a16:creationId xmlns:a16="http://schemas.microsoft.com/office/drawing/2014/main" id="{6430DFB6-FF54-B190-FA10-35F55F6A79A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F8B3591C-0978-F1DA-8561-94E73FB43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6402203" y="4237567"/>
            <a:ext cx="1546593" cy="2463800"/>
          </a:xfrm>
          <a:prstGeom prst="rect">
            <a:avLst/>
          </a:prstGeom>
        </p:spPr>
      </p:pic>
      <p:pic>
        <p:nvPicPr>
          <p:cNvPr id="13" name="Picture 12">
            <a:extLst>
              <a:ext uri="{FF2B5EF4-FFF2-40B4-BE49-F238E27FC236}">
                <a16:creationId xmlns:a16="http://schemas.microsoft.com/office/drawing/2014/main" id="{03221708-1659-9908-D846-A2DC44EF6EAE}"/>
              </a:ext>
            </a:extLst>
          </p:cNvPr>
          <p:cNvPicPr>
            <a:picLocks noChangeAspect="1"/>
          </p:cNvPicPr>
          <p:nvPr/>
        </p:nvPicPr>
        <p:blipFill>
          <a:blip r:embed="rId3">
            <a:extLst>
              <a:ext uri="{28A0092B-C50C-407E-A947-70E740481C1C}">
                <a14:useLocalDpi xmlns:a14="http://schemas.microsoft.com/office/drawing/2010/main" val="0"/>
              </a:ext>
            </a:extLst>
          </a:blip>
          <a:srcRect l="23075" t="9579" r="14192" b="19923"/>
          <a:stretch>
            <a:fillRect/>
          </a:stretch>
        </p:blipFill>
        <p:spPr>
          <a:xfrm rot="5400000">
            <a:off x="9481565" y="3764207"/>
            <a:ext cx="1933283" cy="3115733"/>
          </a:xfrm>
          <a:prstGeom prst="rect">
            <a:avLst/>
          </a:prstGeom>
        </p:spPr>
      </p:pic>
      <p:pic>
        <p:nvPicPr>
          <p:cNvPr id="17" name="Picture 16">
            <a:extLst>
              <a:ext uri="{FF2B5EF4-FFF2-40B4-BE49-F238E27FC236}">
                <a16:creationId xmlns:a16="http://schemas.microsoft.com/office/drawing/2014/main" id="{02CB6F68-9DE7-D818-EF9D-B2B0F2A3AAFC}"/>
              </a:ext>
            </a:extLst>
          </p:cNvPr>
          <p:cNvPicPr>
            <a:picLocks noChangeAspect="1"/>
          </p:cNvPicPr>
          <p:nvPr/>
        </p:nvPicPr>
        <p:blipFill>
          <a:blip r:embed="rId4">
            <a:extLst>
              <a:ext uri="{28A0092B-C50C-407E-A947-70E740481C1C}">
                <a14:useLocalDpi xmlns:a14="http://schemas.microsoft.com/office/drawing/2010/main" val="0"/>
              </a:ext>
            </a:extLst>
          </a:blip>
          <a:srcRect t="16931" b="16005"/>
          <a:stretch>
            <a:fillRect/>
          </a:stretch>
        </p:blipFill>
        <p:spPr>
          <a:xfrm rot="5400000">
            <a:off x="8198533" y="-77823"/>
            <a:ext cx="2931624" cy="4083403"/>
          </a:xfrm>
          <a:prstGeom prst="rect">
            <a:avLst/>
          </a:prstGeom>
        </p:spPr>
      </p:pic>
    </p:spTree>
    <p:extLst>
      <p:ext uri="{BB962C8B-B14F-4D97-AF65-F5344CB8AC3E}">
        <p14:creationId xmlns:p14="http://schemas.microsoft.com/office/powerpoint/2010/main" val="142417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7F43B-E0E3-BD2D-989B-D1057A9DCC1E}"/>
              </a:ext>
            </a:extLst>
          </p:cNvPr>
          <p:cNvSpPr>
            <a:spLocks noGrp="1"/>
          </p:cNvSpPr>
          <p:nvPr>
            <p:ph type="title"/>
          </p:nvPr>
        </p:nvSpPr>
        <p:spPr>
          <a:xfrm>
            <a:off x="237066" y="100639"/>
            <a:ext cx="10515600" cy="1325563"/>
          </a:xfrm>
        </p:spPr>
        <p:txBody>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Project Execution:</a:t>
            </a:r>
            <a:endParaRPr lang="en-IN" b="1" u="sng"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C86B23-F95D-B803-A494-915775923F22}"/>
              </a:ext>
            </a:extLst>
          </p:cNvPr>
          <p:cNvSpPr>
            <a:spLocks noGrp="1"/>
          </p:cNvSpPr>
          <p:nvPr>
            <p:ph idx="1"/>
          </p:nvPr>
        </p:nvSpPr>
        <p:spPr>
          <a:xfrm>
            <a:off x="557212" y="1654176"/>
            <a:ext cx="8915400" cy="3777622"/>
          </a:xfrm>
        </p:spPr>
        <p:txBody>
          <a:bodyPr>
            <a:normAutofit/>
          </a:bodyPr>
          <a:lstStyle/>
          <a:p>
            <a:r>
              <a:rPr lang="en-IN" sz="2000" dirty="0">
                <a:latin typeface="Times New Roman" panose="02020603050405020304" pitchFamily="18" charset="0"/>
                <a:cs typeface="Times New Roman" panose="02020603050405020304" pitchFamily="18" charset="0"/>
              </a:rPr>
              <a:t>Selected components: ESP32, DHT11, Gyroscope, Buzzer</a:t>
            </a:r>
          </a:p>
          <a:p>
            <a:r>
              <a:rPr lang="en-IN" sz="2000" dirty="0">
                <a:latin typeface="Times New Roman" panose="02020603050405020304" pitchFamily="18" charset="0"/>
                <a:cs typeface="Times New Roman" panose="02020603050405020304" pitchFamily="18" charset="0"/>
              </a:rPr>
              <a:t>Designed circuit and hardware connections</a:t>
            </a:r>
          </a:p>
          <a:p>
            <a:r>
              <a:rPr lang="en-IN" sz="2000" dirty="0">
                <a:latin typeface="Times New Roman" panose="02020603050405020304" pitchFamily="18" charset="0"/>
                <a:cs typeface="Times New Roman" panose="02020603050405020304" pitchFamily="18" charset="0"/>
              </a:rPr>
              <a:t>Programmed ESP32 using Arduino IDE</a:t>
            </a:r>
          </a:p>
          <a:p>
            <a:r>
              <a:rPr lang="en-IN" sz="2000" dirty="0">
                <a:latin typeface="Times New Roman" panose="02020603050405020304" pitchFamily="18" charset="0"/>
                <a:cs typeface="Times New Roman" panose="02020603050405020304" pitchFamily="18" charset="0"/>
              </a:rPr>
              <a:t>Integrated sensors for continuous data collection</a:t>
            </a:r>
          </a:p>
          <a:p>
            <a:r>
              <a:rPr lang="en-IN" sz="2000" dirty="0">
                <a:latin typeface="Times New Roman" panose="02020603050405020304" pitchFamily="18" charset="0"/>
                <a:cs typeface="Times New Roman" panose="02020603050405020304" pitchFamily="18" charset="0"/>
              </a:rPr>
              <a:t>Connected system to Blynk IoT platform via Wi-Fi</a:t>
            </a:r>
          </a:p>
          <a:p>
            <a:r>
              <a:rPr lang="en-IN" sz="2000" dirty="0">
                <a:latin typeface="Times New Roman" panose="02020603050405020304" pitchFamily="18" charset="0"/>
                <a:cs typeface="Times New Roman" panose="02020603050405020304" pitchFamily="18" charset="0"/>
              </a:rPr>
              <a:t>Developed mobile interface for real-time alerts</a:t>
            </a:r>
          </a:p>
          <a:p>
            <a:r>
              <a:rPr lang="en-IN" sz="2000" dirty="0">
                <a:latin typeface="Times New Roman" panose="02020603050405020304" pitchFamily="18" charset="0"/>
                <a:cs typeface="Times New Roman" panose="02020603050405020304" pitchFamily="18" charset="0"/>
              </a:rPr>
              <a:t>Ensured proper power supply and stability</a:t>
            </a:r>
          </a:p>
        </p:txBody>
      </p:sp>
      <p:pic>
        <p:nvPicPr>
          <p:cNvPr id="5" name="Picture 4">
            <a:extLst>
              <a:ext uri="{FF2B5EF4-FFF2-40B4-BE49-F238E27FC236}">
                <a16:creationId xmlns:a16="http://schemas.microsoft.com/office/drawing/2014/main" id="{EB093F20-2523-DD80-FE3D-82C4C16DE1F7}"/>
              </a:ext>
            </a:extLst>
          </p:cNvPr>
          <p:cNvPicPr>
            <a:picLocks noChangeAspect="1"/>
          </p:cNvPicPr>
          <p:nvPr/>
        </p:nvPicPr>
        <p:blipFill>
          <a:blip r:embed="rId2">
            <a:extLst>
              <a:ext uri="{28A0092B-C50C-407E-A947-70E740481C1C}">
                <a14:useLocalDpi xmlns:a14="http://schemas.microsoft.com/office/drawing/2010/main" val="0"/>
              </a:ext>
            </a:extLst>
          </a:blip>
          <a:srcRect t="3081" b="40118"/>
          <a:stretch>
            <a:fillRect/>
          </a:stretch>
        </p:blipFill>
        <p:spPr>
          <a:xfrm>
            <a:off x="8030237" y="161709"/>
            <a:ext cx="2948780" cy="3480545"/>
          </a:xfrm>
          <a:prstGeom prst="rect">
            <a:avLst/>
          </a:prstGeom>
        </p:spPr>
      </p:pic>
      <p:pic>
        <p:nvPicPr>
          <p:cNvPr id="7" name="Picture 6">
            <a:extLst>
              <a:ext uri="{FF2B5EF4-FFF2-40B4-BE49-F238E27FC236}">
                <a16:creationId xmlns:a16="http://schemas.microsoft.com/office/drawing/2014/main" id="{41D146D2-E353-D08B-5322-3E7D80244B65}"/>
              </a:ext>
            </a:extLst>
          </p:cNvPr>
          <p:cNvPicPr>
            <a:picLocks noChangeAspect="1"/>
          </p:cNvPicPr>
          <p:nvPr/>
        </p:nvPicPr>
        <p:blipFill>
          <a:blip r:embed="rId3">
            <a:extLst>
              <a:ext uri="{28A0092B-C50C-407E-A947-70E740481C1C}">
                <a14:useLocalDpi xmlns:a14="http://schemas.microsoft.com/office/drawing/2010/main" val="0"/>
              </a:ext>
            </a:extLst>
          </a:blip>
          <a:srcRect t="3827" b="51111"/>
          <a:stretch>
            <a:fillRect/>
          </a:stretch>
        </p:blipFill>
        <p:spPr>
          <a:xfrm>
            <a:off x="8028783" y="3870228"/>
            <a:ext cx="2950234" cy="2887133"/>
          </a:xfrm>
          <a:prstGeom prst="rect">
            <a:avLst/>
          </a:prstGeom>
        </p:spPr>
      </p:pic>
    </p:spTree>
    <p:extLst>
      <p:ext uri="{BB962C8B-B14F-4D97-AF65-F5344CB8AC3E}">
        <p14:creationId xmlns:p14="http://schemas.microsoft.com/office/powerpoint/2010/main" val="740179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4C454-98EC-8352-67E3-393854786FBC}"/>
              </a:ext>
            </a:extLst>
          </p:cNvPr>
          <p:cNvSpPr>
            <a:spLocks noGrp="1"/>
          </p:cNvSpPr>
          <p:nvPr>
            <p:ph type="title"/>
          </p:nvPr>
        </p:nvSpPr>
        <p:spPr>
          <a:xfrm>
            <a:off x="869112" y="407933"/>
            <a:ext cx="8911687" cy="1280890"/>
          </a:xfrm>
        </p:spPr>
        <p:txBody>
          <a:bodyPr>
            <a:normAutofit/>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Conclusion</a:t>
            </a:r>
            <a:r>
              <a:rPr lang="en-US" sz="3600" b="1" u="sng" dirty="0">
                <a:solidFill>
                  <a:schemeClr val="accent2">
                    <a:lumMod val="75000"/>
                  </a:schemeClr>
                </a:solidFill>
              </a:rPr>
              <a:t>:</a:t>
            </a:r>
            <a:endParaRPr lang="en-IN" sz="3600" b="1" u="sng" dirty="0">
              <a:solidFill>
                <a:schemeClr val="accent2">
                  <a:lumMod val="75000"/>
                </a:schemeClr>
              </a:solidFill>
            </a:endParaRPr>
          </a:p>
        </p:txBody>
      </p:sp>
      <p:sp>
        <p:nvSpPr>
          <p:cNvPr id="3" name="Content Placeholder 2">
            <a:extLst>
              <a:ext uri="{FF2B5EF4-FFF2-40B4-BE49-F238E27FC236}">
                <a16:creationId xmlns:a16="http://schemas.microsoft.com/office/drawing/2014/main" id="{CB2BE448-82FD-CE32-EE13-BC83D803CD50}"/>
              </a:ext>
            </a:extLst>
          </p:cNvPr>
          <p:cNvSpPr>
            <a:spLocks noGrp="1"/>
          </p:cNvSpPr>
          <p:nvPr>
            <p:ph idx="1"/>
          </p:nvPr>
        </p:nvSpPr>
        <p:spPr>
          <a:xfrm>
            <a:off x="865399" y="1688823"/>
            <a:ext cx="8915400" cy="3777622"/>
          </a:xfrm>
        </p:spPr>
        <p:txBody>
          <a:bodyPr>
            <a:normAutofit/>
          </a:bodyPr>
          <a:lstStyle/>
          <a:p>
            <a:pPr algn="just"/>
            <a:r>
              <a:rPr lang="en-US" sz="2000" dirty="0">
                <a:latin typeface="Times New Roman" panose="02020603050405020304" pitchFamily="18" charset="0"/>
                <a:cs typeface="Times New Roman" panose="02020603050405020304" pitchFamily="18" charset="0"/>
              </a:rPr>
              <a:t>The IoT-Based Disaster Response System provides:</a:t>
            </a:r>
          </a:p>
          <a:p>
            <a:pPr algn="just"/>
            <a:r>
              <a:rPr lang="en-US" sz="2000" dirty="0">
                <a:latin typeface="Times New Roman" panose="02020603050405020304" pitchFamily="18" charset="0"/>
                <a:cs typeface="Times New Roman" panose="02020603050405020304" pitchFamily="18" charset="0"/>
              </a:rPr>
              <a:t>Real-time environmental monitoring</a:t>
            </a:r>
          </a:p>
          <a:p>
            <a:pPr algn="just"/>
            <a:r>
              <a:rPr lang="en-US" sz="2000" dirty="0">
                <a:latin typeface="Times New Roman" panose="02020603050405020304" pitchFamily="18" charset="0"/>
                <a:cs typeface="Times New Roman" panose="02020603050405020304" pitchFamily="18" charset="0"/>
              </a:rPr>
              <a:t>Early detection of temperature rise and seismic activity</a:t>
            </a:r>
          </a:p>
          <a:p>
            <a:pPr algn="just"/>
            <a:r>
              <a:rPr lang="en-US" sz="2000" dirty="0">
                <a:latin typeface="Times New Roman" panose="02020603050405020304" pitchFamily="18" charset="0"/>
                <a:cs typeface="Times New Roman" panose="02020603050405020304" pitchFamily="18" charset="0"/>
              </a:rPr>
              <a:t>Immediate local alerts through buzzer</a:t>
            </a:r>
          </a:p>
          <a:p>
            <a:pPr algn="just"/>
            <a:r>
              <a:rPr lang="en-US" sz="2000" dirty="0">
                <a:latin typeface="Times New Roman" panose="02020603050405020304" pitchFamily="18" charset="0"/>
                <a:cs typeface="Times New Roman" panose="02020603050405020304" pitchFamily="18" charset="0"/>
              </a:rPr>
              <a:t>Remote notifications through Blynk IoT</a:t>
            </a:r>
          </a:p>
          <a:p>
            <a:pPr algn="just"/>
            <a:r>
              <a:rPr lang="en-US" sz="2000" dirty="0">
                <a:latin typeface="Times New Roman" panose="02020603050405020304" pitchFamily="18" charset="0"/>
                <a:cs typeface="Times New Roman" panose="02020603050405020304" pitchFamily="18" charset="0"/>
              </a:rPr>
              <a:t>The system is cost-effective, reliable, and suitable for smart buildings, industries, and disaster-prone regions.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6246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F4766-B55A-65E1-81B2-52BB106C7199}"/>
              </a:ext>
            </a:extLst>
          </p:cNvPr>
          <p:cNvSpPr>
            <a:spLocks noGrp="1"/>
          </p:cNvSpPr>
          <p:nvPr>
            <p:ph type="title"/>
          </p:nvPr>
        </p:nvSpPr>
        <p:spPr>
          <a:xfrm>
            <a:off x="623578" y="461716"/>
            <a:ext cx="8911687" cy="1280890"/>
          </a:xfrm>
        </p:spPr>
        <p:txBody>
          <a:bodyPr>
            <a:normAutofit/>
          </a:bodyPr>
          <a:lstStyle/>
          <a:p>
            <a:r>
              <a:rPr lang="en-US" b="1" u="sng" dirty="0">
                <a:solidFill>
                  <a:schemeClr val="accent2">
                    <a:lumMod val="75000"/>
                  </a:schemeClr>
                </a:solidFill>
                <a:latin typeface="Times New Roman" panose="02020603050405020304" pitchFamily="18" charset="0"/>
                <a:cs typeface="Times New Roman" panose="02020603050405020304" pitchFamily="18" charset="0"/>
              </a:rPr>
              <a:t>References</a:t>
            </a:r>
            <a:r>
              <a:rPr lang="en-US" b="1" dirty="0">
                <a:solidFill>
                  <a:schemeClr val="accent2">
                    <a:lumMod val="75000"/>
                  </a:schemeClr>
                </a:solidFill>
                <a:latin typeface="Times New Roman" panose="02020603050405020304" pitchFamily="18" charset="0"/>
                <a:cs typeface="Times New Roman" panose="02020603050405020304" pitchFamily="18" charset="0"/>
              </a:rPr>
              <a:t>:</a:t>
            </a:r>
            <a:endParaRPr lang="en-IN"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A798AF3-049F-E522-792B-5CAC46E5CB8B}"/>
              </a:ext>
            </a:extLst>
          </p:cNvPr>
          <p:cNvSpPr>
            <a:spLocks noGrp="1" noChangeArrowheads="1"/>
          </p:cNvSpPr>
          <p:nvPr>
            <p:ph idx="1"/>
          </p:nvPr>
        </p:nvSpPr>
        <p:spPr bwMode="auto">
          <a:xfrm>
            <a:off x="753533" y="2013539"/>
            <a:ext cx="10684933" cy="3821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 Zanella, N. Bui, A. Castellani, L. </a:t>
            </a:r>
            <a:r>
              <a:rPr lang="en-IN" sz="2000" dirty="0" err="1">
                <a:latin typeface="Times New Roman" panose="02020603050405020304" pitchFamily="18" charset="0"/>
                <a:cs typeface="Times New Roman" panose="02020603050405020304" pitchFamily="18" charset="0"/>
              </a:rPr>
              <a:t>Vangelista</a:t>
            </a:r>
            <a:r>
              <a:rPr lang="en-IN" sz="2000" dirty="0">
                <a:latin typeface="Times New Roman" panose="02020603050405020304" pitchFamily="18" charset="0"/>
                <a:cs typeface="Times New Roman" panose="02020603050405020304" pitchFamily="18" charset="0"/>
              </a:rPr>
              <a:t>, and M. Zorzi, “</a:t>
            </a:r>
            <a:r>
              <a:rPr lang="en-IN" sz="2000" i="1" dirty="0">
                <a:latin typeface="Times New Roman" panose="02020603050405020304" pitchFamily="18" charset="0"/>
                <a:cs typeface="Times New Roman" panose="02020603050405020304" pitchFamily="18" charset="0"/>
              </a:rPr>
              <a:t>Internet of Things for smart cities</a:t>
            </a:r>
            <a:r>
              <a:rPr lang="en-IN" sz="2000" dirty="0">
                <a:latin typeface="Times New Roman" panose="02020603050405020304" pitchFamily="18" charset="0"/>
                <a:cs typeface="Times New Roman" panose="02020603050405020304" pitchFamily="18" charset="0"/>
              </a:rPr>
              <a:t>,” IEEE Internet of Things Journal, vol. 1, no. 1, pp. 22–32, Feb. 2014.</a:t>
            </a:r>
          </a:p>
          <a:p>
            <a:pPr algn="just" eaLnBrk="0" fontAlgn="base" hangingPunct="0">
              <a:lnSpc>
                <a:spcPct val="100000"/>
              </a:lnSpc>
              <a:spcBef>
                <a:spcPct val="0"/>
              </a:spcBef>
              <a:spcAft>
                <a:spcPct val="0"/>
              </a:spcAf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N. Sharma and R. Singh, “IoT based earthquake detection and alert system,” </a:t>
            </a:r>
            <a:r>
              <a:rPr lang="en-IN" sz="2000" i="1" dirty="0">
                <a:latin typeface="Times New Roman" panose="02020603050405020304" pitchFamily="18" charset="0"/>
                <a:cs typeface="Times New Roman" panose="02020603050405020304" pitchFamily="18" charset="0"/>
              </a:rPr>
              <a:t>International Journal of Engineering Research &amp; Technology (IJERT)</a:t>
            </a:r>
            <a:r>
              <a:rPr lang="en-IN" sz="2000" dirty="0">
                <a:latin typeface="Times New Roman" panose="02020603050405020304" pitchFamily="18" charset="0"/>
                <a:cs typeface="Times New Roman" panose="02020603050405020304" pitchFamily="18" charset="0"/>
              </a:rPr>
              <a:t>, vol. 9, no. 4, pp. 155–160, 2020.</a:t>
            </a:r>
          </a:p>
          <a:p>
            <a:pPr algn="just" eaLnBrk="0" fontAlgn="base" hangingPunct="0">
              <a:lnSpc>
                <a:spcPct val="100000"/>
              </a:lnSpc>
              <a:spcBef>
                <a:spcPct val="0"/>
              </a:spcBef>
              <a:spcAft>
                <a:spcPct val="0"/>
              </a:spcAft>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Mousavi, F.S., Yousefi, S., </a:t>
            </a:r>
            <a:r>
              <a:rPr lang="en-US" sz="2000" dirty="0" err="1">
                <a:latin typeface="Times New Roman" panose="02020603050405020304" pitchFamily="18" charset="0"/>
                <a:cs typeface="Times New Roman" panose="02020603050405020304" pitchFamily="18" charset="0"/>
              </a:rPr>
              <a:t>Abghari</a:t>
            </a:r>
            <a:r>
              <a:rPr lang="en-US" sz="2000" dirty="0">
                <a:latin typeface="Times New Roman" panose="02020603050405020304" pitchFamily="18" charset="0"/>
                <a:cs typeface="Times New Roman" panose="02020603050405020304" pitchFamily="18" charset="0"/>
              </a:rPr>
              <a:t>, H., Ghasemzadeh, “</a:t>
            </a:r>
            <a:r>
              <a:rPr lang="en-US" sz="2000" i="1" dirty="0" err="1">
                <a:latin typeface="Times New Roman" panose="02020603050405020304" pitchFamily="18" charset="0"/>
                <a:cs typeface="Times New Roman" panose="02020603050405020304" pitchFamily="18" charset="0"/>
              </a:rPr>
              <a:t>A.Design</a:t>
            </a:r>
            <a:r>
              <a:rPr lang="en-US" sz="2000" i="1" dirty="0">
                <a:latin typeface="Times New Roman" panose="02020603050405020304" pitchFamily="18" charset="0"/>
                <a:cs typeface="Times New Roman" panose="02020603050405020304" pitchFamily="18" charset="0"/>
              </a:rPr>
              <a:t> of an IoT-based flood early detection system using machine learning</a:t>
            </a:r>
            <a:r>
              <a:rPr lang="en-US" sz="2000" dirty="0">
                <a:latin typeface="Times New Roman" panose="02020603050405020304" pitchFamily="18" charset="0"/>
                <a:cs typeface="Times New Roman" panose="02020603050405020304" pitchFamily="18" charset="0"/>
              </a:rPr>
              <a:t>”. In: 2021 26th International Computer Conference, Computer Society of Iran (CSICC), pp. 1–7 (2021)</a:t>
            </a:r>
          </a:p>
          <a:p>
            <a:pPr eaLnBrk="0" fontAlgn="base" hangingPunct="0">
              <a:lnSpc>
                <a:spcPct val="100000"/>
              </a:lnSpc>
              <a:spcBef>
                <a:spcPct val="0"/>
              </a:spcBef>
              <a:spcAft>
                <a:spcPct val="0"/>
              </a:spcAf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2380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D48B8-C0F2-A96E-63F7-906E487FB85F}"/>
              </a:ext>
            </a:extLst>
          </p:cNvPr>
          <p:cNvSpPr>
            <a:spLocks noGrp="1"/>
          </p:cNvSpPr>
          <p:nvPr>
            <p:ph type="title"/>
          </p:nvPr>
        </p:nvSpPr>
        <p:spPr>
          <a:xfrm>
            <a:off x="2131908" y="1007531"/>
            <a:ext cx="8131002" cy="5198533"/>
          </a:xfrm>
        </p:spPr>
        <p:txBody>
          <a:bodyPr>
            <a:normAutofit/>
          </a:bodyPr>
          <a:lstStyle/>
          <a:p>
            <a:r>
              <a:rPr lang="en-US" sz="9600" dirty="0"/>
              <a:t>THANK YOU!!</a:t>
            </a:r>
            <a:endParaRPr lang="en-IN" sz="9600" dirty="0"/>
          </a:p>
        </p:txBody>
      </p:sp>
    </p:spTree>
    <p:extLst>
      <p:ext uri="{BB962C8B-B14F-4D97-AF65-F5344CB8AC3E}">
        <p14:creationId xmlns:p14="http://schemas.microsoft.com/office/powerpoint/2010/main" val="311594637"/>
      </p:ext>
    </p:extLst>
  </p:cSld>
  <p:clrMapOvr>
    <a:masterClrMapping/>
  </p:clrMapOvr>
</p:sld>
</file>

<file path=ppt/theme/theme1.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575</TotalTime>
  <Words>1253</Words>
  <Application>Microsoft Office PowerPoint</Application>
  <PresentationFormat>Widescreen</PresentationFormat>
  <Paragraphs>135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Times New Roman</vt:lpstr>
      <vt:lpstr>Wingdings</vt:lpstr>
      <vt:lpstr>Office Theme</vt:lpstr>
      <vt:lpstr>Real time research project IOT DISASTER RESPONSE SYSTEM  Under the guidance of DR.V.Sandhya  </vt:lpstr>
      <vt:lpstr>Contents:</vt:lpstr>
      <vt:lpstr>Abstract:</vt:lpstr>
      <vt:lpstr>Problem Definition:</vt:lpstr>
      <vt:lpstr>Literature Survey:</vt:lpstr>
      <vt:lpstr>Objectives:</vt:lpstr>
      <vt:lpstr>Methodology:</vt:lpstr>
      <vt:lpstr>Analysis and Design : </vt:lpstr>
      <vt:lpstr>Future Scope:</vt:lpstr>
      <vt:lpstr>Implementation:</vt:lpstr>
      <vt:lpstr>Testing and validation:</vt:lpstr>
      <vt:lpstr>Project Execution:</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time research project IOT DISASTER RESPONSE    SYSTEM</dc:title>
  <dc:creator>Yashaswi Dasari</dc:creator>
  <cp:lastModifiedBy>Yashaswi Dasari</cp:lastModifiedBy>
  <cp:revision>8</cp:revision>
  <dcterms:created xsi:type="dcterms:W3CDTF">2026-02-18T17:35:38Z</dcterms:created>
  <dcterms:modified xsi:type="dcterms:W3CDTF">2026-03-27T07:44:19Z</dcterms:modified>
</cp:coreProperties>
</file>